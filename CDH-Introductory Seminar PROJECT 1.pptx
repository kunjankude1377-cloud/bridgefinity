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 roundtripDataSignature="AMtx7mhjyTqsMx+jgriEa5kw0vEDC+bbx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4B56E9-A9F4-4AB6-8CF0-F09DFA68967B}" v="2" dt="2026-07-21T18:19:07.6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1018" y="5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6f57dd38d0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36f57dd38d0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2153eeaeb8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g32153eeaeb8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 name="Google Shape;12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1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1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1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2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2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volunteermatch.org/"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www.idealist.org/"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p:nvPr/>
        </p:nvSpPr>
        <p:spPr>
          <a:xfrm>
            <a:off x="434177" y="1024500"/>
            <a:ext cx="8612700" cy="4119000"/>
          </a:xfrm>
          <a:prstGeom prst="rect">
            <a:avLst/>
          </a:prstGeom>
          <a:noFill/>
          <a:ln>
            <a:noFill/>
          </a:ln>
        </p:spPr>
        <p:txBody>
          <a:bodyPr spcFirstLastPara="1" wrap="square" lIns="91425" tIns="91425" rIns="91425" bIns="91425" anchor="t" anchorCtr="0">
            <a:noAutofit/>
          </a:bodyPr>
          <a:lstStyle/>
          <a:p>
            <a:pPr marL="0" marR="0" lvl="0" indent="0" algn="ctr" rtl="0">
              <a:lnSpc>
                <a:spcPct val="50000"/>
              </a:lnSpc>
              <a:spcBef>
                <a:spcPts val="0"/>
              </a:spcBef>
              <a:spcAft>
                <a:spcPts val="0"/>
              </a:spcAft>
              <a:buClr>
                <a:srgbClr val="000000"/>
              </a:buClr>
              <a:buSzPts val="2000"/>
              <a:buFont typeface="Arial"/>
              <a:buNone/>
            </a:pPr>
            <a:endParaRPr sz="2000" b="1" i="0" u="none" strike="noStrike" cap="none" dirty="0">
              <a:solidFill>
                <a:srgbClr val="000000"/>
              </a:solidFill>
              <a:latin typeface="Times New Roman"/>
              <a:ea typeface="Times New Roman"/>
              <a:cs typeface="Times New Roman"/>
              <a:sym typeface="Times New Roman"/>
            </a:endParaRPr>
          </a:p>
          <a:p>
            <a:pPr marL="0" marR="0" lvl="0" indent="0" algn="ctr" rtl="0">
              <a:lnSpc>
                <a:spcPct val="50000"/>
              </a:lnSpc>
              <a:spcBef>
                <a:spcPts val="0"/>
              </a:spcBef>
              <a:spcAft>
                <a:spcPts val="0"/>
              </a:spcAft>
              <a:buClr>
                <a:srgbClr val="000000"/>
              </a:buClr>
              <a:buSzPts val="2000"/>
              <a:buFont typeface="Arial"/>
              <a:buNone/>
            </a:pPr>
            <a:r>
              <a:rPr lang="en" sz="2000" b="1" i="0" u="none" strike="noStrike" cap="none" dirty="0">
                <a:solidFill>
                  <a:srgbClr val="000000"/>
                </a:solidFill>
                <a:latin typeface="Times New Roman"/>
                <a:ea typeface="Times New Roman"/>
                <a:cs typeface="Times New Roman"/>
                <a:sym typeface="Times New Roman"/>
              </a:rPr>
              <a:t>Community Database Handling</a:t>
            </a:r>
            <a:endParaRPr sz="2000" b="1" i="0" u="none" strike="noStrike" cap="none" dirty="0">
              <a:solidFill>
                <a:srgbClr val="000000"/>
              </a:solidFill>
              <a:latin typeface="Times New Roman"/>
              <a:ea typeface="Times New Roman"/>
              <a:cs typeface="Times New Roman"/>
              <a:sym typeface="Times New Roman"/>
            </a:endParaRPr>
          </a:p>
          <a:p>
            <a:pPr marL="0" marR="0" lvl="0" indent="0" algn="ctr" rtl="0">
              <a:lnSpc>
                <a:spcPct val="50000"/>
              </a:lnSpc>
              <a:spcBef>
                <a:spcPts val="0"/>
              </a:spcBef>
              <a:spcAft>
                <a:spcPts val="0"/>
              </a:spcAft>
              <a:buClr>
                <a:srgbClr val="000000"/>
              </a:buClr>
              <a:buSzPts val="2000"/>
              <a:buFont typeface="Arial"/>
              <a:buNone/>
            </a:pPr>
            <a:endParaRPr sz="2000" b="1" i="0" u="none" strike="noStrike" cap="none" dirty="0">
              <a:solidFill>
                <a:srgbClr val="000000"/>
              </a:solidFill>
              <a:latin typeface="Times New Roman"/>
              <a:ea typeface="Times New Roman"/>
              <a:cs typeface="Times New Roman"/>
              <a:sym typeface="Times New Roman"/>
            </a:endParaRPr>
          </a:p>
          <a:p>
            <a:pPr marL="0" marR="0" lvl="0" indent="0" algn="ctr" rtl="0">
              <a:lnSpc>
                <a:spcPct val="50000"/>
              </a:lnSpc>
              <a:spcBef>
                <a:spcPts val="0"/>
              </a:spcBef>
              <a:spcAft>
                <a:spcPts val="0"/>
              </a:spcAft>
              <a:buClr>
                <a:srgbClr val="000000"/>
              </a:buClr>
              <a:buSzPts val="2000"/>
              <a:buFont typeface="Arial"/>
              <a:buNone/>
            </a:pPr>
            <a:r>
              <a:rPr lang="en" sz="2000" b="1" i="0" u="none" strike="noStrike" cap="none" dirty="0">
                <a:solidFill>
                  <a:srgbClr val="C00000"/>
                </a:solidFill>
                <a:latin typeface="Times New Roman"/>
                <a:ea typeface="Times New Roman"/>
                <a:cs typeface="Times New Roman"/>
                <a:sym typeface="Times New Roman"/>
              </a:rPr>
              <a:t>Introductory Seminar</a:t>
            </a:r>
            <a:endParaRPr lang="en" sz="2000" b="1" dirty="0">
              <a:solidFill>
                <a:srgbClr val="C00000"/>
              </a:solidFill>
              <a:latin typeface="Times New Roman"/>
              <a:ea typeface="Times New Roman"/>
              <a:cs typeface="Times New Roman"/>
              <a:sym typeface="Times New Roman"/>
            </a:endParaRPr>
          </a:p>
          <a:p>
            <a:pPr marL="0" marR="0" lvl="0" indent="0" algn="ctr" rtl="0">
              <a:lnSpc>
                <a:spcPct val="50000"/>
              </a:lnSpc>
              <a:spcBef>
                <a:spcPts val="0"/>
              </a:spcBef>
              <a:spcAft>
                <a:spcPts val="0"/>
              </a:spcAft>
              <a:buClr>
                <a:srgbClr val="000000"/>
              </a:buClr>
              <a:buSzPts val="2000"/>
              <a:buFont typeface="Arial"/>
              <a:buNone/>
            </a:pPr>
            <a:endParaRPr sz="2100" b="1" i="0" u="none" strike="noStrike" cap="none" dirty="0">
              <a:solidFill>
                <a:srgbClr val="000000"/>
              </a:solidFill>
              <a:latin typeface="Times New Roman"/>
              <a:ea typeface="Times New Roman"/>
              <a:cs typeface="Times New Roman"/>
              <a:sym typeface="Times New Roman"/>
            </a:endParaRPr>
          </a:p>
          <a:p>
            <a:pPr marL="0" marR="0" lvl="0" indent="0" algn="ctr" rtl="0">
              <a:lnSpc>
                <a:spcPct val="50000"/>
              </a:lnSpc>
              <a:spcBef>
                <a:spcPts val="0"/>
              </a:spcBef>
              <a:spcAft>
                <a:spcPts val="0"/>
              </a:spcAft>
              <a:buClr>
                <a:srgbClr val="000000"/>
              </a:buClr>
              <a:buSzPts val="1400"/>
              <a:buFont typeface="Arial"/>
              <a:buNone/>
            </a:pPr>
            <a:r>
              <a:rPr lang="en" sz="1400" b="1" i="1" u="none" strike="noStrike" cap="none" dirty="0">
                <a:solidFill>
                  <a:srgbClr val="000000"/>
                </a:solidFill>
                <a:latin typeface="Times New Roman"/>
                <a:ea typeface="Times New Roman"/>
                <a:cs typeface="Times New Roman"/>
                <a:sym typeface="Times New Roman"/>
              </a:rPr>
              <a:t>On</a:t>
            </a:r>
            <a:endParaRPr sz="1400" b="1" i="1"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200"/>
              <a:buFont typeface="Arial"/>
              <a:buNone/>
            </a:pPr>
            <a:r>
              <a:rPr lang="en" sz="2200" b="0" i="0" u="none" strike="noStrike" cap="none" dirty="0">
                <a:solidFill>
                  <a:srgbClr val="002060"/>
                </a:solidFill>
                <a:latin typeface="Algerian"/>
                <a:ea typeface="Algerian"/>
                <a:cs typeface="Algerian"/>
                <a:sym typeface="Algerian"/>
              </a:rPr>
              <a:t>“</a:t>
            </a:r>
            <a:r>
              <a:rPr lang="en" sz="2200" dirty="0">
                <a:solidFill>
                  <a:srgbClr val="002060"/>
                </a:solidFill>
                <a:latin typeface="Algerian"/>
                <a:ea typeface="Algerian"/>
                <a:cs typeface="Algerian"/>
                <a:sym typeface="Algerian"/>
              </a:rPr>
              <a:t>volunteer link</a:t>
            </a:r>
            <a:r>
              <a:rPr lang="en" sz="2200" b="0" i="0" u="none" strike="noStrike" cap="none" dirty="0">
                <a:solidFill>
                  <a:srgbClr val="002060"/>
                </a:solidFill>
                <a:latin typeface="Algerian"/>
                <a:ea typeface="Algerian"/>
                <a:cs typeface="Algerian"/>
                <a:sym typeface="Algerian"/>
              </a:rPr>
              <a:t>”</a:t>
            </a:r>
            <a:endParaRPr sz="2200" b="0" i="0" u="none" strike="noStrike" cap="none" dirty="0">
              <a:solidFill>
                <a:srgbClr val="002060"/>
              </a:solidFill>
              <a:latin typeface="Algerian"/>
              <a:ea typeface="Algerian"/>
              <a:cs typeface="Algerian"/>
              <a:sym typeface="Algerian"/>
            </a:endParaRPr>
          </a:p>
          <a:p>
            <a:pPr marL="0" marR="0" lvl="0" indent="0" algn="ctr" rtl="0">
              <a:lnSpc>
                <a:spcPct val="100000"/>
              </a:lnSpc>
              <a:spcBef>
                <a:spcPts val="0"/>
              </a:spcBef>
              <a:spcAft>
                <a:spcPts val="0"/>
              </a:spcAft>
              <a:buClr>
                <a:srgbClr val="000000"/>
              </a:buClr>
              <a:buSzPts val="1000"/>
              <a:buFont typeface="Arial"/>
              <a:buNone/>
            </a:pPr>
            <a:r>
              <a:rPr lang="en-US" b="0" i="0" u="none" strike="noStrike" cap="none" dirty="0">
                <a:solidFill>
                  <a:srgbClr val="C00000"/>
                </a:solidFill>
                <a:latin typeface="Algerian"/>
                <a:ea typeface="Algerian"/>
                <a:cs typeface="Algerian"/>
                <a:sym typeface="Algerian"/>
              </a:rPr>
              <a:t>A community database platform for connecting volunteers and </a:t>
            </a:r>
            <a:r>
              <a:rPr lang="en-US" b="0" i="0" u="none" strike="noStrike" cap="none" dirty="0" err="1">
                <a:solidFill>
                  <a:srgbClr val="C00000"/>
                </a:solidFill>
                <a:latin typeface="Algerian"/>
                <a:ea typeface="Algerian"/>
                <a:cs typeface="Algerian"/>
                <a:sym typeface="Algerian"/>
              </a:rPr>
              <a:t>ngos</a:t>
            </a:r>
            <a:r>
              <a:rPr lang="en-US" b="0" i="0" u="none" strike="noStrike" cap="none" dirty="0">
                <a:solidFill>
                  <a:srgbClr val="C00000"/>
                </a:solidFill>
                <a:latin typeface="Algerian"/>
                <a:ea typeface="Algerian"/>
                <a:cs typeface="Algerian"/>
                <a:sym typeface="Algerian"/>
              </a:rPr>
              <a:t>.</a:t>
            </a:r>
            <a:endParaRPr b="0" i="0" u="none" strike="noStrike" cap="none" dirty="0">
              <a:solidFill>
                <a:srgbClr val="C00000"/>
              </a:solidFill>
              <a:latin typeface="Algerian"/>
              <a:ea typeface="Algerian"/>
              <a:cs typeface="Algerian"/>
              <a:sym typeface="Algerian"/>
            </a:endParaRPr>
          </a:p>
          <a:p>
            <a:pPr marL="0" marR="0" lvl="0" indent="0" algn="ctr" rtl="0">
              <a:lnSpc>
                <a:spcPct val="100000"/>
              </a:lnSpc>
              <a:spcBef>
                <a:spcPts val="0"/>
              </a:spcBef>
              <a:spcAft>
                <a:spcPts val="0"/>
              </a:spcAft>
              <a:buClr>
                <a:srgbClr val="000000"/>
              </a:buClr>
              <a:buSzPts val="1600"/>
              <a:buFont typeface="Arial"/>
              <a:buNone/>
            </a:pPr>
            <a:r>
              <a:rPr lang="en" sz="1600" b="1" i="1" u="none" strike="noStrike" cap="none" dirty="0">
                <a:solidFill>
                  <a:srgbClr val="000000"/>
                </a:solidFill>
                <a:latin typeface="Times New Roman"/>
                <a:ea typeface="Times New Roman"/>
                <a:cs typeface="Times New Roman"/>
                <a:sym typeface="Times New Roman"/>
              </a:rPr>
              <a:t>Presented by</a:t>
            </a:r>
            <a:endParaRPr sz="1600" b="1" i="1"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Times New Roman"/>
                <a:ea typeface="Times New Roman"/>
                <a:cs typeface="Times New Roman"/>
                <a:sym typeface="Times New Roman"/>
              </a:rPr>
              <a:t>Group No.: </a:t>
            </a:r>
            <a:r>
              <a:rPr lang="en" sz="1400" b="1" i="0" u="none" strike="noStrike" cap="none" dirty="0">
                <a:solidFill>
                  <a:srgbClr val="C00000"/>
                </a:solidFill>
                <a:latin typeface="Times New Roman"/>
                <a:ea typeface="Times New Roman"/>
                <a:cs typeface="Times New Roman"/>
                <a:sym typeface="Times New Roman"/>
              </a:rPr>
              <a:t>02</a:t>
            </a:r>
            <a:endParaRPr sz="1400" b="1" i="0" u="none" strike="noStrike" cap="none" dirty="0">
              <a:solidFill>
                <a:srgbClr val="C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400"/>
              <a:buFont typeface="Arial"/>
              <a:buNone/>
            </a:pPr>
            <a:r>
              <a:rPr lang="en" sz="1400" b="0" i="0" u="none" strike="noStrike" cap="none" dirty="0">
                <a:solidFill>
                  <a:srgbClr val="FF0000"/>
                </a:solidFill>
                <a:latin typeface="Times New Roman"/>
                <a:ea typeface="Times New Roman"/>
                <a:cs typeface="Times New Roman"/>
                <a:sym typeface="Times New Roman"/>
              </a:rPr>
              <a:t>Name of Students (Roll No.)</a:t>
            </a:r>
            <a:endParaRPr lang="en"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400"/>
              <a:buFont typeface="Arial"/>
              <a:buNone/>
            </a:pPr>
            <a:r>
              <a:rPr lang="en" sz="1400" b="0" i="0" u="none" strike="noStrike" cap="none" dirty="0">
                <a:solidFill>
                  <a:srgbClr val="FF0000"/>
                </a:solidFill>
                <a:latin typeface="Times New Roman"/>
                <a:ea typeface="Times New Roman"/>
                <a:cs typeface="Times New Roman"/>
                <a:sym typeface="Times New Roman"/>
              </a:rPr>
              <a:t>  Riya Anjankar(55)</a:t>
            </a:r>
          </a:p>
          <a:p>
            <a:pPr marL="0" marR="0" lvl="0" indent="0" algn="ctr" rtl="0">
              <a:lnSpc>
                <a:spcPct val="100000"/>
              </a:lnSpc>
              <a:spcBef>
                <a:spcPts val="0"/>
              </a:spcBef>
              <a:spcAft>
                <a:spcPts val="0"/>
              </a:spcAft>
              <a:buClr>
                <a:srgbClr val="000000"/>
              </a:buClr>
              <a:buSzPts val="1400"/>
              <a:buFont typeface="Arial"/>
              <a:buNone/>
            </a:pPr>
            <a:r>
              <a:rPr lang="en" dirty="0">
                <a:solidFill>
                  <a:srgbClr val="FF0000"/>
                </a:solidFill>
                <a:latin typeface="Times New Roman"/>
                <a:ea typeface="Times New Roman"/>
                <a:cs typeface="Times New Roman"/>
                <a:sym typeface="Times New Roman"/>
              </a:rPr>
              <a:t>    Rishi Chouksey(57)</a:t>
            </a:r>
          </a:p>
          <a:p>
            <a:pPr marL="0" marR="0" lvl="0" indent="0" algn="ctr" rtl="0">
              <a:lnSpc>
                <a:spcPct val="100000"/>
              </a:lnSpc>
              <a:spcBef>
                <a:spcPts val="0"/>
              </a:spcBef>
              <a:spcAft>
                <a:spcPts val="0"/>
              </a:spcAft>
              <a:buClr>
                <a:srgbClr val="000000"/>
              </a:buClr>
              <a:buSzPts val="1400"/>
              <a:buFont typeface="Arial"/>
              <a:buNone/>
            </a:pPr>
            <a:r>
              <a:rPr lang="en" dirty="0">
                <a:solidFill>
                  <a:srgbClr val="FF0000"/>
                </a:solidFill>
                <a:latin typeface="Times New Roman"/>
                <a:ea typeface="Times New Roman"/>
                <a:cs typeface="Times New Roman"/>
                <a:sym typeface="Times New Roman"/>
              </a:rPr>
              <a:t>     Manasvi Dupare(13)</a:t>
            </a:r>
          </a:p>
          <a:p>
            <a:pPr marL="0" marR="0" lvl="0" indent="0" algn="ctr" rtl="0">
              <a:lnSpc>
                <a:spcPct val="100000"/>
              </a:lnSpc>
              <a:spcBef>
                <a:spcPts val="0"/>
              </a:spcBef>
              <a:spcAft>
                <a:spcPts val="0"/>
              </a:spcAft>
              <a:buClr>
                <a:srgbClr val="000000"/>
              </a:buClr>
              <a:buSzPts val="1400"/>
              <a:buFont typeface="Arial"/>
              <a:buNone/>
            </a:pPr>
            <a:r>
              <a:rPr lang="en" dirty="0">
                <a:solidFill>
                  <a:srgbClr val="FF0000"/>
                </a:solidFill>
                <a:latin typeface="Times New Roman"/>
                <a:ea typeface="Times New Roman"/>
                <a:cs typeface="Times New Roman"/>
                <a:sym typeface="Times New Roman"/>
              </a:rPr>
              <a:t>Kunjan Kude(06)</a:t>
            </a:r>
          </a:p>
          <a:p>
            <a:pPr marL="0" marR="0" lvl="0" indent="0" algn="ctr" rtl="0">
              <a:lnSpc>
                <a:spcPct val="100000"/>
              </a:lnSpc>
              <a:spcBef>
                <a:spcPts val="0"/>
              </a:spcBef>
              <a:spcAft>
                <a:spcPts val="0"/>
              </a:spcAft>
              <a:buClr>
                <a:srgbClr val="000000"/>
              </a:buClr>
              <a:buSzPts val="1400"/>
              <a:buFont typeface="Arial"/>
              <a:buNone/>
            </a:pPr>
            <a:r>
              <a:rPr lang="en" sz="1400" b="0" i="0" u="none" strike="noStrike" cap="none" dirty="0">
                <a:solidFill>
                  <a:srgbClr val="FF0000"/>
                </a:solidFill>
                <a:latin typeface="Times New Roman"/>
                <a:ea typeface="Times New Roman"/>
                <a:cs typeface="Times New Roman"/>
                <a:sym typeface="Times New Roman"/>
              </a:rPr>
              <a:t>Sahil Daf(63)</a:t>
            </a:r>
          </a:p>
          <a:p>
            <a:pPr marL="0" marR="0" lvl="0" indent="0" algn="just" rtl="0">
              <a:lnSpc>
                <a:spcPct val="100000"/>
              </a:lnSpc>
              <a:spcBef>
                <a:spcPts val="0"/>
              </a:spcBef>
              <a:spcAft>
                <a:spcPts val="0"/>
              </a:spcAft>
              <a:buClr>
                <a:srgbClr val="000000"/>
              </a:buClr>
              <a:buSzPts val="1400"/>
              <a:buFont typeface="Arial"/>
              <a:buNone/>
            </a:pPr>
            <a:endParaRPr lang="en" sz="1400" b="0"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en" sz="1200" b="1" dirty="0">
                <a:solidFill>
                  <a:schemeClr val="dk1"/>
                </a:solidFill>
                <a:latin typeface="Times New Roman"/>
                <a:ea typeface="Times New Roman"/>
                <a:cs typeface="Times New Roman"/>
                <a:sym typeface="Times New Roman"/>
              </a:rPr>
              <a:t>III </a:t>
            </a:r>
            <a:r>
              <a:rPr lang="en" sz="1200" b="1" i="0" u="none" strike="noStrike" cap="none" dirty="0">
                <a:solidFill>
                  <a:schemeClr val="dk1"/>
                </a:solidFill>
                <a:latin typeface="Times New Roman"/>
                <a:ea typeface="Times New Roman"/>
                <a:cs typeface="Times New Roman"/>
                <a:sym typeface="Times New Roman"/>
              </a:rPr>
              <a:t>Semester</a:t>
            </a:r>
            <a:endParaRPr sz="2000" b="1" i="1"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r>
              <a:rPr lang="en" sz="1600" b="1" i="1" u="none" strike="noStrike" cap="none" dirty="0">
                <a:solidFill>
                  <a:srgbClr val="000000"/>
                </a:solidFill>
                <a:latin typeface="Times New Roman"/>
                <a:ea typeface="Times New Roman"/>
                <a:cs typeface="Times New Roman"/>
                <a:sym typeface="Times New Roman"/>
              </a:rPr>
              <a:t>Guided by</a:t>
            </a:r>
            <a:endParaRPr sz="1600" b="1" i="1"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400"/>
              <a:buFont typeface="Arial"/>
              <a:buNone/>
            </a:pPr>
            <a:r>
              <a:rPr lang="en" dirty="0">
                <a:solidFill>
                  <a:srgbClr val="FF0000"/>
                </a:solidFill>
                <a:latin typeface="Times New Roman"/>
                <a:ea typeface="Times New Roman"/>
                <a:cs typeface="Times New Roman"/>
                <a:sym typeface="Times New Roman"/>
              </a:rPr>
              <a:t>Prof. Shubhangi Doye</a:t>
            </a:r>
            <a:endParaRPr sz="1400" b="0" i="0" u="none" strike="noStrike" cap="none" dirty="0">
              <a:solidFill>
                <a:srgbClr val="FF0000"/>
              </a:solidFill>
              <a:latin typeface="Times New Roman"/>
              <a:ea typeface="Times New Roman"/>
              <a:cs typeface="Times New Roman"/>
              <a:sym typeface="Times New Roman"/>
            </a:endParaRPr>
          </a:p>
        </p:txBody>
      </p:sp>
      <p:pic>
        <p:nvPicPr>
          <p:cNvPr id="55" name="Google Shape;55;p1" title="CSE (Even-26).png"/>
          <p:cNvPicPr preferRelativeResize="0"/>
          <p:nvPr/>
        </p:nvPicPr>
        <p:blipFill>
          <a:blip r:embed="rId3">
            <a:alphaModFix/>
          </a:blip>
          <a:stretch>
            <a:fillRect/>
          </a:stretch>
        </p:blipFill>
        <p:spPr>
          <a:xfrm>
            <a:off x="0" y="0"/>
            <a:ext cx="9144000" cy="1168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2"/>
          <p:cNvSpPr txBox="1">
            <a:spLocks noGrp="1"/>
          </p:cNvSpPr>
          <p:nvPr>
            <p:ph type="title"/>
          </p:nvPr>
        </p:nvSpPr>
        <p:spPr>
          <a:xfrm>
            <a:off x="311700" y="303075"/>
            <a:ext cx="8520600" cy="4542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Clr>
                <a:srgbClr val="C00000"/>
              </a:buClr>
              <a:buSzPct val="100000"/>
              <a:buFont typeface="Noto Sans Symbols"/>
              <a:buNone/>
            </a:pPr>
            <a:r>
              <a:rPr lang="en" b="1" u="sng">
                <a:solidFill>
                  <a:srgbClr val="C00000"/>
                </a:solidFill>
                <a:latin typeface="Times New Roman"/>
                <a:ea typeface="Times New Roman"/>
                <a:cs typeface="Times New Roman"/>
                <a:sym typeface="Times New Roman"/>
              </a:rPr>
              <a:t>CONTENTS</a:t>
            </a:r>
            <a:endParaRPr/>
          </a:p>
        </p:txBody>
      </p:sp>
      <p:sp>
        <p:nvSpPr>
          <p:cNvPr id="61" name="Google Shape;61;p2"/>
          <p:cNvSpPr txBox="1">
            <a:spLocks noGrp="1"/>
          </p:cNvSpPr>
          <p:nvPr>
            <p:ph type="body" idx="1"/>
          </p:nvPr>
        </p:nvSpPr>
        <p:spPr>
          <a:xfrm>
            <a:off x="311700" y="1152475"/>
            <a:ext cx="8330100" cy="3416400"/>
          </a:xfrm>
          <a:prstGeom prst="rect">
            <a:avLst/>
          </a:prstGeom>
          <a:noFill/>
          <a:ln>
            <a:noFill/>
          </a:ln>
        </p:spPr>
        <p:txBody>
          <a:bodyPr spcFirstLastPara="1" wrap="square" lIns="91425" tIns="91425" rIns="91425" bIns="91425" anchor="t" anchorCtr="0">
            <a:normAutofit/>
          </a:bodyPr>
          <a:lstStyle/>
          <a:p>
            <a:pPr marL="457200" lvl="0" indent="-355600" algn="l" rtl="0">
              <a:lnSpc>
                <a:spcPct val="90000"/>
              </a:lnSpc>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  INTRODUCTION </a:t>
            </a:r>
            <a:endParaRPr sz="2000">
              <a:solidFill>
                <a:schemeClr val="dk1"/>
              </a:solidFill>
              <a:latin typeface="Times New Roman"/>
              <a:ea typeface="Times New Roman"/>
              <a:cs typeface="Times New Roman"/>
              <a:sym typeface="Times New Roman"/>
            </a:endParaRPr>
          </a:p>
          <a:p>
            <a:pPr marL="457200" lvl="0" indent="-355600" algn="l" rtl="0">
              <a:lnSpc>
                <a:spcPct val="90000"/>
              </a:lnSpc>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  SURVEY / INVESTIGATION </a:t>
            </a:r>
            <a:endParaRPr sz="2000">
              <a:solidFill>
                <a:schemeClr val="dk1"/>
              </a:solidFill>
              <a:latin typeface="Times New Roman"/>
              <a:ea typeface="Times New Roman"/>
              <a:cs typeface="Times New Roman"/>
              <a:sym typeface="Times New Roman"/>
            </a:endParaRPr>
          </a:p>
          <a:p>
            <a:pPr marL="457200" lvl="0" indent="-355600" algn="l" rtl="0">
              <a:lnSpc>
                <a:spcPct val="90000"/>
              </a:lnSpc>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  PROBLEM STATEMENT </a:t>
            </a:r>
            <a:endParaRPr sz="2000">
              <a:solidFill>
                <a:srgbClr val="404040"/>
              </a:solidFill>
              <a:latin typeface="Calibri"/>
              <a:ea typeface="Calibri"/>
              <a:cs typeface="Calibri"/>
              <a:sym typeface="Calibri"/>
            </a:endParaRPr>
          </a:p>
          <a:p>
            <a:pPr marL="457200" lvl="0" indent="-355600" algn="l" rtl="0">
              <a:lnSpc>
                <a:spcPct val="90000"/>
              </a:lnSpc>
              <a:spcBef>
                <a:spcPts val="0"/>
              </a:spcBef>
              <a:spcAft>
                <a:spcPts val="0"/>
              </a:spcAft>
              <a:buSzPts val="2000"/>
              <a:buChar char="●"/>
            </a:pPr>
            <a:r>
              <a:rPr lang="en" sz="2000">
                <a:solidFill>
                  <a:srgbClr val="404040"/>
                </a:solidFill>
                <a:latin typeface="Calibri"/>
                <a:ea typeface="Calibri"/>
                <a:cs typeface="Calibri"/>
                <a:sym typeface="Calibri"/>
              </a:rPr>
              <a:t>  </a:t>
            </a:r>
            <a:r>
              <a:rPr lang="en" sz="2000">
                <a:solidFill>
                  <a:schemeClr val="dk1"/>
                </a:solidFill>
                <a:latin typeface="Times New Roman"/>
                <a:ea typeface="Times New Roman"/>
                <a:cs typeface="Times New Roman"/>
                <a:sym typeface="Times New Roman"/>
              </a:rPr>
              <a:t>OBJECTIVE</a:t>
            </a:r>
            <a:endParaRPr sz="2000">
              <a:solidFill>
                <a:schemeClr val="dk1"/>
              </a:solidFill>
              <a:latin typeface="Times New Roman"/>
              <a:ea typeface="Times New Roman"/>
              <a:cs typeface="Times New Roman"/>
              <a:sym typeface="Times New Roman"/>
            </a:endParaRPr>
          </a:p>
          <a:p>
            <a:pPr marL="457200" lvl="0" indent="-355600" algn="l" rtl="0">
              <a:lnSpc>
                <a:spcPct val="90000"/>
              </a:lnSpc>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  PLANNING</a:t>
            </a:r>
            <a:endParaRPr sz="2000">
              <a:solidFill>
                <a:schemeClr val="dk1"/>
              </a:solidFill>
              <a:latin typeface="Times New Roman"/>
              <a:ea typeface="Times New Roman"/>
              <a:cs typeface="Times New Roman"/>
              <a:sym typeface="Times New Roman"/>
            </a:endParaRPr>
          </a:p>
          <a:p>
            <a:pPr marL="457200" lvl="0" indent="-355600" algn="l" rtl="0">
              <a:lnSpc>
                <a:spcPct val="90000"/>
              </a:lnSpc>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  APPLICATIONS AREA</a:t>
            </a:r>
            <a:endParaRPr sz="2000">
              <a:solidFill>
                <a:srgbClr val="404040"/>
              </a:solidFill>
              <a:latin typeface="Calibri"/>
              <a:ea typeface="Calibri"/>
              <a:cs typeface="Calibri"/>
              <a:sym typeface="Calibri"/>
            </a:endParaRPr>
          </a:p>
          <a:p>
            <a:pPr marL="457200" lvl="0" indent="-355600" algn="l" rtl="0">
              <a:lnSpc>
                <a:spcPct val="90000"/>
              </a:lnSpc>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  REQUIREMENT  </a:t>
            </a:r>
            <a:endParaRPr sz="2000">
              <a:solidFill>
                <a:schemeClr val="dk1"/>
              </a:solidFill>
              <a:latin typeface="Times New Roman"/>
              <a:ea typeface="Times New Roman"/>
              <a:cs typeface="Times New Roman"/>
              <a:sym typeface="Times New Roman"/>
            </a:endParaRPr>
          </a:p>
          <a:p>
            <a:pPr marL="457200" lvl="0" indent="-355600" algn="l" rtl="0">
              <a:lnSpc>
                <a:spcPct val="90000"/>
              </a:lnSpc>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  REFERENCES </a:t>
            </a:r>
            <a:endParaRPr sz="20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1200"/>
              </a:spcAft>
              <a:buSzPts val="1800"/>
              <a:buNone/>
            </a:pPr>
            <a:endParaRPr/>
          </a:p>
        </p:txBody>
      </p:sp>
      <p:sp>
        <p:nvSpPr>
          <p:cNvPr id="62" name="Google Shape;6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a:t>
            </a:fld>
            <a:endParaRPr/>
          </a:p>
        </p:txBody>
      </p:sp>
      <p:pic>
        <p:nvPicPr>
          <p:cNvPr id="63" name="Google Shape;63;p2"/>
          <p:cNvPicPr preferRelativeResize="0"/>
          <p:nvPr/>
        </p:nvPicPr>
        <p:blipFill rotWithShape="1">
          <a:blip r:embed="rId3">
            <a:alphaModFix/>
          </a:blip>
          <a:srcRect/>
          <a:stretch/>
        </p:blipFill>
        <p:spPr>
          <a:xfrm>
            <a:off x="0" y="-3"/>
            <a:ext cx="965900" cy="943250"/>
          </a:xfrm>
          <a:prstGeom prst="rect">
            <a:avLst/>
          </a:prstGeom>
          <a:noFill/>
          <a:ln>
            <a:noFill/>
          </a:ln>
        </p:spPr>
      </p:pic>
      <p:sp>
        <p:nvSpPr>
          <p:cNvPr id="64" name="Google Shape;64;p2"/>
          <p:cNvSpPr txBox="1"/>
          <p:nvPr/>
        </p:nvSpPr>
        <p:spPr>
          <a:xfrm>
            <a:off x="-5925" y="4707000"/>
            <a:ext cx="8609700" cy="21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2"/>
                </a:solidFill>
                <a:latin typeface="Times New Roman"/>
                <a:ea typeface="Times New Roman"/>
                <a:cs typeface="Times New Roman"/>
                <a:sym typeface="Times New Roman"/>
              </a:rPr>
              <a:t>Department of Computer Science and Engineering                                                                 </a:t>
            </a:r>
            <a:endParaRPr sz="1400" b="0" i="0" u="none"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3"/>
          <p:cNvSpPr txBox="1">
            <a:spLocks noGrp="1"/>
          </p:cNvSpPr>
          <p:nvPr>
            <p:ph type="title"/>
          </p:nvPr>
        </p:nvSpPr>
        <p:spPr>
          <a:xfrm>
            <a:off x="311700" y="303075"/>
            <a:ext cx="8520600" cy="454200"/>
          </a:xfrm>
          <a:prstGeom prst="rect">
            <a:avLst/>
          </a:prstGeom>
          <a:noFill/>
          <a:ln>
            <a:noFill/>
          </a:ln>
        </p:spPr>
        <p:txBody>
          <a:bodyPr spcFirstLastPara="1" wrap="square" lIns="91425" tIns="91425" rIns="91425" bIns="91425" anchor="t" anchorCtr="0">
            <a:normAutofit fontScale="90000"/>
          </a:bodyPr>
          <a:lstStyle/>
          <a:p>
            <a:pPr marL="90487" lvl="0" indent="0" algn="ctr" rtl="0">
              <a:lnSpc>
                <a:spcPct val="90000"/>
              </a:lnSpc>
              <a:spcBef>
                <a:spcPts val="0"/>
              </a:spcBef>
              <a:spcAft>
                <a:spcPts val="0"/>
              </a:spcAft>
              <a:buSzPct val="111111"/>
              <a:buNone/>
            </a:pPr>
            <a:r>
              <a:rPr lang="en" b="1" u="sng">
                <a:solidFill>
                  <a:srgbClr val="C00000"/>
                </a:solidFill>
                <a:latin typeface="Times New Roman"/>
                <a:ea typeface="Times New Roman"/>
                <a:cs typeface="Times New Roman"/>
                <a:sym typeface="Times New Roman"/>
              </a:rPr>
              <a:t>INTRODUCTION</a:t>
            </a:r>
            <a:endParaRPr b="1" u="sng">
              <a:solidFill>
                <a:srgbClr val="C00000"/>
              </a:solidFill>
              <a:latin typeface="Times New Roman"/>
              <a:ea typeface="Times New Roman"/>
              <a:cs typeface="Times New Roman"/>
              <a:sym typeface="Times New Roman"/>
            </a:endParaRPr>
          </a:p>
        </p:txBody>
      </p:sp>
      <p:sp>
        <p:nvSpPr>
          <p:cNvPr id="70" name="Google Shape;70;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330200" indent="-171450">
              <a:spcBef>
                <a:spcPts val="1200"/>
              </a:spcBef>
              <a:buClr>
                <a:schemeClr val="dk1"/>
              </a:buClr>
              <a:buSzPts val="1100"/>
            </a:pPr>
            <a:r>
              <a:rPr lang="en-US" sz="1400" dirty="0">
                <a:solidFill>
                  <a:schemeClr val="dk1"/>
                </a:solidFill>
                <a:latin typeface="Times New Roman"/>
                <a:ea typeface="Times New Roman"/>
                <a:cs typeface="Times New Roman"/>
                <a:sym typeface="Times New Roman"/>
              </a:rPr>
              <a:t>Community service plays an important role in building a responsible and connected society. Many NGOs organize activities such as education, healthcare, environmental protection, blood donation, and social awareness campaigns.</a:t>
            </a:r>
          </a:p>
          <a:p>
            <a:pPr marL="330200" indent="-171450">
              <a:spcBef>
                <a:spcPts val="1200"/>
              </a:spcBef>
              <a:buClr>
                <a:schemeClr val="dk1"/>
              </a:buClr>
              <a:buSzPts val="1100"/>
            </a:pPr>
            <a:r>
              <a:rPr lang="en-US" sz="1400" dirty="0">
                <a:solidFill>
                  <a:schemeClr val="dk1"/>
                </a:solidFill>
                <a:latin typeface="Times New Roman"/>
                <a:ea typeface="Times New Roman"/>
                <a:cs typeface="Times New Roman"/>
                <a:sym typeface="Times New Roman"/>
              </a:rPr>
              <a:t>However, volunteering opportunities are often scattered across different platforms, making it difficult for people to discover genuine organizations.</a:t>
            </a:r>
          </a:p>
          <a:p>
            <a:pPr marL="330200" indent="-171450">
              <a:spcBef>
                <a:spcPts val="1200"/>
              </a:spcBef>
              <a:buClr>
                <a:schemeClr val="dk1"/>
              </a:buClr>
              <a:buSzPts val="1100"/>
            </a:pPr>
            <a:r>
              <a:rPr lang="en-US" sz="1400" dirty="0">
                <a:solidFill>
                  <a:schemeClr val="dk1"/>
                </a:solidFill>
                <a:latin typeface="Times New Roman"/>
                <a:ea typeface="Times New Roman"/>
                <a:cs typeface="Times New Roman"/>
                <a:sym typeface="Times New Roman"/>
              </a:rPr>
              <a:t>Volunteer Link is a centralized community database platform that helps users discover NGOs based on location and interests, making it easier for volunteers and organizations to connect.</a:t>
            </a:r>
            <a:endParaRPr lang="en" sz="14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4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4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4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1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1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1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1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1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1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1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1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1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1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1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1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1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1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1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100" dirty="0">
              <a:solidFill>
                <a:schemeClr val="dk1"/>
              </a:solidFill>
              <a:latin typeface="Times New Roman"/>
              <a:ea typeface="Times New Roman"/>
              <a:cs typeface="Times New Roman"/>
              <a:sym typeface="Times New Roman"/>
            </a:endParaRPr>
          </a:p>
          <a:p>
            <a:pPr marL="457200" lvl="0" indent="-298450" algn="l" rtl="0">
              <a:spcBef>
                <a:spcPts val="1200"/>
              </a:spcBef>
              <a:spcAft>
                <a:spcPts val="0"/>
              </a:spcAft>
              <a:buClr>
                <a:schemeClr val="dk1"/>
              </a:buClr>
              <a:buSzPts val="1100"/>
              <a:buChar char="●"/>
            </a:pPr>
            <a:endParaRPr lang="en" sz="1100" dirty="0">
              <a:solidFill>
                <a:schemeClr val="dk1"/>
              </a:solidFill>
              <a:latin typeface="Times New Roman"/>
              <a:ea typeface="Times New Roman"/>
              <a:cs typeface="Times New Roman"/>
              <a:sym typeface="Times New Roman"/>
            </a:endParaRPr>
          </a:p>
          <a:p>
            <a:pPr marL="158750" lvl="0" indent="0" algn="l" rtl="0">
              <a:spcBef>
                <a:spcPts val="1200"/>
              </a:spcBef>
              <a:spcAft>
                <a:spcPts val="0"/>
              </a:spcAft>
              <a:buClr>
                <a:schemeClr val="dk1"/>
              </a:buClr>
              <a:buSzPts val="1100"/>
              <a:buNone/>
            </a:pPr>
            <a:endParaRPr sz="20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SzPts val="1800"/>
              <a:buNone/>
            </a:pPr>
            <a:endParaRPr dirty="0"/>
          </a:p>
        </p:txBody>
      </p:sp>
      <p:sp>
        <p:nvSpPr>
          <p:cNvPr id="71" name="Google Shape;71;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3</a:t>
            </a:fld>
            <a:endParaRPr/>
          </a:p>
        </p:txBody>
      </p:sp>
      <p:pic>
        <p:nvPicPr>
          <p:cNvPr id="72" name="Google Shape;72;p3"/>
          <p:cNvPicPr preferRelativeResize="0"/>
          <p:nvPr/>
        </p:nvPicPr>
        <p:blipFill rotWithShape="1">
          <a:blip r:embed="rId3">
            <a:alphaModFix/>
          </a:blip>
          <a:srcRect/>
          <a:stretch/>
        </p:blipFill>
        <p:spPr>
          <a:xfrm>
            <a:off x="0" y="-3"/>
            <a:ext cx="965900" cy="943250"/>
          </a:xfrm>
          <a:prstGeom prst="rect">
            <a:avLst/>
          </a:prstGeom>
          <a:noFill/>
          <a:ln>
            <a:noFill/>
          </a:ln>
        </p:spPr>
      </p:pic>
      <p:sp>
        <p:nvSpPr>
          <p:cNvPr id="73" name="Google Shape;73;p3"/>
          <p:cNvSpPr txBox="1"/>
          <p:nvPr/>
        </p:nvSpPr>
        <p:spPr>
          <a:xfrm>
            <a:off x="222675" y="4707000"/>
            <a:ext cx="8609700" cy="21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2"/>
                </a:solidFill>
                <a:latin typeface="Times New Roman"/>
                <a:ea typeface="Times New Roman"/>
                <a:cs typeface="Times New Roman"/>
                <a:sym typeface="Times New Roman"/>
              </a:rPr>
              <a:t>Department of Computer Science and Engineering </a:t>
            </a:r>
            <a:endParaRPr sz="1400" b="0" i="0" u="none"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4"/>
          <p:cNvSpPr txBox="1">
            <a:spLocks noGrp="1"/>
          </p:cNvSpPr>
          <p:nvPr>
            <p:ph type="title"/>
          </p:nvPr>
        </p:nvSpPr>
        <p:spPr>
          <a:xfrm>
            <a:off x="311700" y="303075"/>
            <a:ext cx="8520600" cy="454200"/>
          </a:xfrm>
          <a:prstGeom prst="rect">
            <a:avLst/>
          </a:prstGeom>
          <a:noFill/>
          <a:ln>
            <a:noFill/>
          </a:ln>
        </p:spPr>
        <p:txBody>
          <a:bodyPr spcFirstLastPara="1" wrap="square" lIns="91425" tIns="91425" rIns="91425" bIns="91425" anchor="t" anchorCtr="0">
            <a:normAutofit fontScale="90000"/>
          </a:bodyPr>
          <a:lstStyle/>
          <a:p>
            <a:pPr marL="90487" lvl="0" indent="0" algn="ctr" rtl="0">
              <a:lnSpc>
                <a:spcPct val="90000"/>
              </a:lnSpc>
              <a:spcBef>
                <a:spcPts val="0"/>
              </a:spcBef>
              <a:spcAft>
                <a:spcPts val="0"/>
              </a:spcAft>
              <a:buSzPct val="111111"/>
              <a:buNone/>
            </a:pPr>
            <a:r>
              <a:rPr lang="en" b="1" u="sng">
                <a:solidFill>
                  <a:srgbClr val="C00000"/>
                </a:solidFill>
                <a:latin typeface="Times New Roman"/>
                <a:ea typeface="Times New Roman"/>
                <a:cs typeface="Times New Roman"/>
                <a:sym typeface="Times New Roman"/>
              </a:rPr>
              <a:t>SURVEY / INVESTIGATION</a:t>
            </a:r>
            <a:endParaRPr b="1" u="sng">
              <a:solidFill>
                <a:srgbClr val="C00000"/>
              </a:solidFill>
              <a:latin typeface="Times New Roman"/>
              <a:ea typeface="Times New Roman"/>
              <a:cs typeface="Times New Roman"/>
              <a:sym typeface="Times New Roman"/>
            </a:endParaRPr>
          </a:p>
        </p:txBody>
      </p:sp>
      <p:sp>
        <p:nvSpPr>
          <p:cNvPr id="79" name="Google Shape;79;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fontScale="85000" lnSpcReduction="10000"/>
          </a:bodyPr>
          <a:lstStyle/>
          <a:p>
            <a:pPr marL="0" indent="0">
              <a:spcBef>
                <a:spcPts val="1200"/>
              </a:spcBef>
              <a:buClr>
                <a:schemeClr val="dk1"/>
              </a:buClr>
              <a:buSzPts val="1100"/>
              <a:buNone/>
            </a:pPr>
            <a:r>
              <a:rPr lang="en-US" sz="1500" dirty="0">
                <a:solidFill>
                  <a:schemeClr val="dk1"/>
                </a:solidFill>
              </a:rPr>
              <a:t>During the initial phase of the project, we interacted with different stakeholders to understand the real challenges faced by volunteers and NGOs. The following observations were made:                                                                                                                                                             </a:t>
            </a:r>
            <a:r>
              <a:rPr lang="en-US" sz="2800" dirty="0">
                <a:solidFill>
                  <a:schemeClr val="dk1"/>
                </a:solidFill>
              </a:rPr>
              <a:t>.</a:t>
            </a:r>
            <a:r>
              <a:rPr lang="en-US" sz="1500" dirty="0">
                <a:solidFill>
                  <a:schemeClr val="dk1"/>
                </a:solidFill>
              </a:rPr>
              <a:t>Project Mentor: Suggested that the platform should be practical and usable in real life.                                                                                    </a:t>
            </a:r>
            <a:r>
              <a:rPr lang="en-US" sz="2600" dirty="0">
                <a:solidFill>
                  <a:schemeClr val="dk1"/>
                </a:solidFill>
              </a:rPr>
              <a:t>.</a:t>
            </a:r>
            <a:r>
              <a:rPr lang="en-US" sz="1500" dirty="0">
                <a:solidFill>
                  <a:schemeClr val="dk1"/>
                </a:solidFill>
              </a:rPr>
              <a:t>NGO Volunteer: Explained that communication mainly happens through WhatsApp groups after registration.                                                                                                                                    </a:t>
            </a:r>
            <a:r>
              <a:rPr lang="en-US" sz="2600" dirty="0">
                <a:solidFill>
                  <a:schemeClr val="dk1"/>
                </a:solidFill>
              </a:rPr>
              <a:t>.</a:t>
            </a:r>
            <a:r>
              <a:rPr lang="en-US" sz="1500" dirty="0">
                <a:solidFill>
                  <a:schemeClr val="dk1"/>
                </a:solidFill>
              </a:rPr>
              <a:t>Rotaract Club Representative: Mentioned that volunteer opportunities are mostly shared within club members, making it difficult for outsiders to participate.                                                                                                                     </a:t>
            </a:r>
            <a:r>
              <a:rPr lang="en-US" sz="2600" dirty="0">
                <a:solidFill>
                  <a:schemeClr val="dk1"/>
                </a:solidFill>
              </a:rPr>
              <a:t>.</a:t>
            </a:r>
            <a:r>
              <a:rPr lang="en-US" sz="1500" dirty="0">
                <a:solidFill>
                  <a:schemeClr val="dk1"/>
                </a:solidFill>
              </a:rPr>
              <a:t>Student Survey: Many students expressed interest in volunteering but were unaware of trusted NGOs and upcoming events.</a:t>
            </a:r>
            <a:endParaRPr lang="en-US" sz="2000" dirty="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SzPts val="1800"/>
              <a:buNone/>
            </a:pPr>
            <a:endParaRPr sz="2000" dirty="0">
              <a:solidFill>
                <a:schemeClr val="dk1"/>
              </a:solidFill>
              <a:latin typeface="Times New Roman"/>
              <a:ea typeface="Times New Roman"/>
              <a:cs typeface="Times New Roman"/>
              <a:sym typeface="Times New Roman"/>
            </a:endParaRPr>
          </a:p>
          <a:p>
            <a:pPr marL="90487" lvl="0" indent="-90487" algn="l" rtl="0">
              <a:lnSpc>
                <a:spcPct val="90000"/>
              </a:lnSpc>
              <a:spcBef>
                <a:spcPts val="1200"/>
              </a:spcBef>
              <a:spcAft>
                <a:spcPts val="0"/>
              </a:spcAft>
              <a:buClr>
                <a:srgbClr val="1CADE4"/>
              </a:buClr>
              <a:buSzPts val="2000"/>
              <a:buFont typeface="Noto Sans Symbols"/>
              <a:buChar char="❑"/>
            </a:pPr>
            <a:r>
              <a:rPr lang="en" sz="2000" dirty="0">
                <a:solidFill>
                  <a:schemeClr val="dk1"/>
                </a:solidFill>
                <a:latin typeface="Times New Roman"/>
                <a:ea typeface="Times New Roman"/>
                <a:cs typeface="Times New Roman"/>
                <a:sym typeface="Times New Roman"/>
              </a:rPr>
              <a:t>  </a:t>
            </a:r>
            <a:endParaRPr sz="20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1200"/>
              </a:spcAft>
              <a:buSzPts val="1800"/>
              <a:buNone/>
            </a:pPr>
            <a:endParaRPr dirty="0">
              <a:latin typeface="Times New Roman" panose="02020603050405020304" pitchFamily="18" charset="0"/>
              <a:cs typeface="Times New Roman" panose="02020603050405020304" pitchFamily="18" charset="0"/>
            </a:endParaRPr>
          </a:p>
        </p:txBody>
      </p:sp>
      <p:sp>
        <p:nvSpPr>
          <p:cNvPr id="80" name="Google Shape;80;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4</a:t>
            </a:fld>
            <a:endParaRPr/>
          </a:p>
        </p:txBody>
      </p:sp>
      <p:pic>
        <p:nvPicPr>
          <p:cNvPr id="81" name="Google Shape;81;p4"/>
          <p:cNvPicPr preferRelativeResize="0"/>
          <p:nvPr/>
        </p:nvPicPr>
        <p:blipFill rotWithShape="1">
          <a:blip r:embed="rId3">
            <a:alphaModFix/>
          </a:blip>
          <a:srcRect/>
          <a:stretch/>
        </p:blipFill>
        <p:spPr>
          <a:xfrm>
            <a:off x="0" y="-3"/>
            <a:ext cx="965900" cy="943250"/>
          </a:xfrm>
          <a:prstGeom prst="rect">
            <a:avLst/>
          </a:prstGeom>
          <a:noFill/>
          <a:ln>
            <a:noFill/>
          </a:ln>
        </p:spPr>
      </p:pic>
      <p:sp>
        <p:nvSpPr>
          <p:cNvPr id="82" name="Google Shape;82;p4"/>
          <p:cNvSpPr txBox="1"/>
          <p:nvPr/>
        </p:nvSpPr>
        <p:spPr>
          <a:xfrm>
            <a:off x="222675" y="4707000"/>
            <a:ext cx="8609700" cy="21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2"/>
                </a:solidFill>
                <a:latin typeface="Times New Roman"/>
                <a:ea typeface="Times New Roman"/>
                <a:cs typeface="Times New Roman"/>
                <a:sym typeface="Times New Roman"/>
              </a:rPr>
              <a:t>Department of Computer Science and Engineering </a:t>
            </a:r>
            <a:endParaRPr sz="1400" b="0" i="0" u="none"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g36f57dd38d0_0_8"/>
          <p:cNvSpPr txBox="1">
            <a:spLocks noGrp="1"/>
          </p:cNvSpPr>
          <p:nvPr>
            <p:ph type="title"/>
          </p:nvPr>
        </p:nvSpPr>
        <p:spPr>
          <a:xfrm>
            <a:off x="311700" y="303075"/>
            <a:ext cx="8520600" cy="454200"/>
          </a:xfrm>
          <a:prstGeom prst="rect">
            <a:avLst/>
          </a:prstGeom>
          <a:noFill/>
          <a:ln>
            <a:noFill/>
          </a:ln>
        </p:spPr>
        <p:txBody>
          <a:bodyPr spcFirstLastPara="1" wrap="square" lIns="91425" tIns="91425" rIns="91425" bIns="91425" anchor="t" anchorCtr="0">
            <a:normAutofit fontScale="90000"/>
          </a:bodyPr>
          <a:lstStyle/>
          <a:p>
            <a:pPr marL="90487" lvl="0" indent="0" algn="ctr" rtl="0">
              <a:lnSpc>
                <a:spcPct val="90000"/>
              </a:lnSpc>
              <a:spcBef>
                <a:spcPts val="0"/>
              </a:spcBef>
              <a:spcAft>
                <a:spcPts val="0"/>
              </a:spcAft>
              <a:buSzPct val="111111"/>
              <a:buNone/>
            </a:pPr>
            <a:r>
              <a:rPr lang="en" b="1" u="sng">
                <a:solidFill>
                  <a:srgbClr val="C00000"/>
                </a:solidFill>
                <a:latin typeface="Times New Roman"/>
                <a:ea typeface="Times New Roman"/>
                <a:cs typeface="Times New Roman"/>
                <a:sym typeface="Times New Roman"/>
              </a:rPr>
              <a:t>PROBLEM STATEMENT</a:t>
            </a:r>
            <a:endParaRPr b="1" u="sng">
              <a:solidFill>
                <a:srgbClr val="C00000"/>
              </a:solidFill>
              <a:latin typeface="Times New Roman"/>
              <a:ea typeface="Times New Roman"/>
              <a:cs typeface="Times New Roman"/>
              <a:sym typeface="Times New Roman"/>
            </a:endParaRPr>
          </a:p>
        </p:txBody>
      </p:sp>
      <p:sp>
        <p:nvSpPr>
          <p:cNvPr id="88" name="Google Shape;88;g36f57dd38d0_0_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spcBef>
                <a:spcPts val="1200"/>
              </a:spcBef>
              <a:buClr>
                <a:schemeClr val="dk1"/>
              </a:buClr>
              <a:buSzPts val="1100"/>
              <a:buNone/>
            </a:pPr>
            <a:br>
              <a:rPr lang="en" sz="1100" dirty="0">
                <a:solidFill>
                  <a:schemeClr val="dk1"/>
                </a:solidFill>
              </a:rPr>
            </a:br>
            <a:r>
              <a:rPr lang="en-US" sz="1400" dirty="0">
                <a:solidFill>
                  <a:schemeClr val="dk1"/>
                </a:solidFill>
              </a:rPr>
              <a:t>Currently, volunteering opportunities are shared across multiple platforms such as Instagram, WhatsApp groups, Google Forms, and individual NGO websites. This scattered information makes it difficult for new volunteers to discover trusted organizations and participate in social activities. Therefore, a centralized platform is needed to organize NGO information and simplify volunteer engagement.</a:t>
            </a:r>
            <a:endParaRPr sz="1400" dirty="0">
              <a:solidFill>
                <a:schemeClr val="dk1"/>
              </a:solidFill>
            </a:endParaRPr>
          </a:p>
          <a:p>
            <a:pPr marL="0" lvl="0" indent="0" algn="l" rtl="0">
              <a:lnSpc>
                <a:spcPct val="115000"/>
              </a:lnSpc>
              <a:spcBef>
                <a:spcPts val="1200"/>
              </a:spcBef>
              <a:spcAft>
                <a:spcPts val="0"/>
              </a:spcAft>
              <a:buNone/>
            </a:pPr>
            <a:endParaRPr sz="2000" b="1"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800"/>
              <a:buNone/>
            </a:pPr>
            <a:endParaRPr sz="2000" dirty="0">
              <a:solidFill>
                <a:schemeClr val="dk1"/>
              </a:solidFill>
              <a:latin typeface="Times New Roman"/>
              <a:ea typeface="Times New Roman"/>
              <a:cs typeface="Times New Roman"/>
              <a:sym typeface="Times New Roman"/>
            </a:endParaRPr>
          </a:p>
          <a:p>
            <a:pPr marL="457200" lvl="0" indent="0" algn="l" rtl="0">
              <a:lnSpc>
                <a:spcPct val="115000"/>
              </a:lnSpc>
              <a:spcBef>
                <a:spcPts val="1200"/>
              </a:spcBef>
              <a:spcAft>
                <a:spcPts val="0"/>
              </a:spcAft>
              <a:buSzPts val="1800"/>
              <a:buNone/>
            </a:pPr>
            <a:endParaRPr sz="2000" dirty="0">
              <a:solidFill>
                <a:schemeClr val="dk1"/>
              </a:solidFill>
              <a:latin typeface="Times New Roman"/>
              <a:ea typeface="Times New Roman"/>
              <a:cs typeface="Times New Roman"/>
              <a:sym typeface="Times New Roman"/>
            </a:endParaRPr>
          </a:p>
          <a:p>
            <a:pPr marL="90487" lvl="0" indent="-90487" algn="l" rtl="0">
              <a:lnSpc>
                <a:spcPct val="90000"/>
              </a:lnSpc>
              <a:spcBef>
                <a:spcPts val="1200"/>
              </a:spcBef>
              <a:spcAft>
                <a:spcPts val="0"/>
              </a:spcAft>
              <a:buClr>
                <a:srgbClr val="1CADE4"/>
              </a:buClr>
              <a:buSzPts val="2000"/>
              <a:buFont typeface="Noto Sans Symbols"/>
              <a:buChar char="❑"/>
            </a:pPr>
            <a:r>
              <a:rPr lang="en" sz="2000" dirty="0">
                <a:solidFill>
                  <a:schemeClr val="dk1"/>
                </a:solidFill>
                <a:latin typeface="Times New Roman"/>
                <a:ea typeface="Times New Roman"/>
                <a:cs typeface="Times New Roman"/>
                <a:sym typeface="Times New Roman"/>
              </a:rPr>
              <a:t>  </a:t>
            </a:r>
            <a:endParaRPr sz="20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1200"/>
              </a:spcAft>
              <a:buSzPts val="1800"/>
              <a:buNone/>
            </a:pPr>
            <a:endParaRPr dirty="0"/>
          </a:p>
        </p:txBody>
      </p:sp>
      <p:sp>
        <p:nvSpPr>
          <p:cNvPr id="89" name="Google Shape;89;g36f57dd38d0_0_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5</a:t>
            </a:fld>
            <a:endParaRPr/>
          </a:p>
        </p:txBody>
      </p:sp>
      <p:pic>
        <p:nvPicPr>
          <p:cNvPr id="90" name="Google Shape;90;g36f57dd38d0_0_8"/>
          <p:cNvPicPr preferRelativeResize="0"/>
          <p:nvPr/>
        </p:nvPicPr>
        <p:blipFill rotWithShape="1">
          <a:blip r:embed="rId3">
            <a:alphaModFix/>
          </a:blip>
          <a:srcRect/>
          <a:stretch/>
        </p:blipFill>
        <p:spPr>
          <a:xfrm>
            <a:off x="0" y="-3"/>
            <a:ext cx="965900" cy="943250"/>
          </a:xfrm>
          <a:prstGeom prst="rect">
            <a:avLst/>
          </a:prstGeom>
          <a:noFill/>
          <a:ln>
            <a:noFill/>
          </a:ln>
        </p:spPr>
      </p:pic>
      <p:sp>
        <p:nvSpPr>
          <p:cNvPr id="91" name="Google Shape;91;g36f57dd38d0_0_8"/>
          <p:cNvSpPr txBox="1"/>
          <p:nvPr/>
        </p:nvSpPr>
        <p:spPr>
          <a:xfrm>
            <a:off x="-5925" y="4707000"/>
            <a:ext cx="8609700" cy="21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2"/>
                </a:solidFill>
                <a:latin typeface="Times New Roman"/>
                <a:ea typeface="Times New Roman"/>
                <a:cs typeface="Times New Roman"/>
                <a:sym typeface="Times New Roman"/>
              </a:rPr>
              <a:t>Department of Computer Science and Engineering                                                                 </a:t>
            </a:r>
            <a:endParaRPr sz="1400" b="0" i="0" u="none"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txBox="1">
            <a:spLocks noGrp="1"/>
          </p:cNvSpPr>
          <p:nvPr>
            <p:ph type="title"/>
          </p:nvPr>
        </p:nvSpPr>
        <p:spPr>
          <a:xfrm>
            <a:off x="311700" y="303075"/>
            <a:ext cx="8520600" cy="454200"/>
          </a:xfrm>
          <a:prstGeom prst="rect">
            <a:avLst/>
          </a:prstGeom>
          <a:noFill/>
          <a:ln>
            <a:noFill/>
          </a:ln>
        </p:spPr>
        <p:txBody>
          <a:bodyPr spcFirstLastPara="1" wrap="square" lIns="91425" tIns="91425" rIns="91425" bIns="91425" anchor="t" anchorCtr="0">
            <a:normAutofit fontScale="90000"/>
          </a:bodyPr>
          <a:lstStyle/>
          <a:p>
            <a:pPr marL="90487" lvl="0" indent="0" algn="ctr" rtl="0">
              <a:lnSpc>
                <a:spcPct val="90000"/>
              </a:lnSpc>
              <a:spcBef>
                <a:spcPts val="0"/>
              </a:spcBef>
              <a:spcAft>
                <a:spcPts val="0"/>
              </a:spcAft>
              <a:buSzPct val="111111"/>
              <a:buNone/>
            </a:pPr>
            <a:r>
              <a:rPr lang="en" b="1" u="sng">
                <a:solidFill>
                  <a:srgbClr val="C00000"/>
                </a:solidFill>
                <a:latin typeface="Times New Roman"/>
                <a:ea typeface="Times New Roman"/>
                <a:cs typeface="Times New Roman"/>
                <a:sym typeface="Times New Roman"/>
              </a:rPr>
              <a:t>OBJECTIVE</a:t>
            </a:r>
            <a:endParaRPr b="1" u="sng">
              <a:solidFill>
                <a:srgbClr val="C00000"/>
              </a:solidFill>
              <a:latin typeface="Times New Roman"/>
              <a:ea typeface="Times New Roman"/>
              <a:cs typeface="Times New Roman"/>
              <a:sym typeface="Times New Roman"/>
            </a:endParaRPr>
          </a:p>
        </p:txBody>
      </p:sp>
      <p:sp>
        <p:nvSpPr>
          <p:cNvPr id="97" name="Google Shape;97;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indent="0">
              <a:spcBef>
                <a:spcPts val="1200"/>
              </a:spcBef>
              <a:buNone/>
            </a:pPr>
            <a:r>
              <a:rPr lang="en-US" sz="2000" dirty="0">
                <a:solidFill>
                  <a:schemeClr val="dk1"/>
                </a:solidFill>
                <a:latin typeface="Times New Roman"/>
                <a:ea typeface="Times New Roman"/>
                <a:cs typeface="Times New Roman"/>
                <a:sym typeface="Times New Roman"/>
              </a:rPr>
              <a:t>* Design a centralized NGO database.                                                                                   * Develop an easy-to-use volunteer discovery platform.                                                      * Implement location-based NGO search.                                                               * Simplify volunteer registration.                                                                             * Improve communication between NGOs and volunteers.                                    * Promote community participation through technology.</a:t>
            </a:r>
            <a:endParaRPr sz="2000" dirty="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SzPts val="1800"/>
              <a:buNone/>
            </a:pPr>
            <a:endParaRPr sz="2000" dirty="0">
              <a:solidFill>
                <a:schemeClr val="dk1"/>
              </a:solidFill>
              <a:latin typeface="Times New Roman"/>
              <a:ea typeface="Times New Roman"/>
              <a:cs typeface="Times New Roman"/>
              <a:sym typeface="Times New Roman"/>
            </a:endParaRPr>
          </a:p>
          <a:p>
            <a:pPr marL="90487" lvl="0" indent="-90487" algn="l" rtl="0">
              <a:lnSpc>
                <a:spcPct val="90000"/>
              </a:lnSpc>
              <a:spcBef>
                <a:spcPts val="0"/>
              </a:spcBef>
              <a:spcAft>
                <a:spcPts val="0"/>
              </a:spcAft>
              <a:buClr>
                <a:srgbClr val="1CADE4"/>
              </a:buClr>
              <a:buSzPts val="2000"/>
              <a:buFont typeface="Noto Sans Symbols"/>
              <a:buChar char="❑"/>
            </a:pPr>
            <a:r>
              <a:rPr lang="en" sz="2000" dirty="0">
                <a:solidFill>
                  <a:schemeClr val="dk1"/>
                </a:solidFill>
                <a:latin typeface="Times New Roman"/>
                <a:ea typeface="Times New Roman"/>
                <a:cs typeface="Times New Roman"/>
                <a:sym typeface="Times New Roman"/>
              </a:rPr>
              <a:t>  </a:t>
            </a:r>
            <a:endParaRPr sz="20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1200"/>
              </a:spcAft>
              <a:buSzPts val="1800"/>
              <a:buNone/>
            </a:pPr>
            <a:endParaRPr dirty="0"/>
          </a:p>
        </p:txBody>
      </p:sp>
      <p:sp>
        <p:nvSpPr>
          <p:cNvPr id="98" name="Google Shape;98;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6</a:t>
            </a:fld>
            <a:endParaRPr/>
          </a:p>
        </p:txBody>
      </p:sp>
      <p:pic>
        <p:nvPicPr>
          <p:cNvPr id="99" name="Google Shape;99;p5"/>
          <p:cNvPicPr preferRelativeResize="0"/>
          <p:nvPr/>
        </p:nvPicPr>
        <p:blipFill rotWithShape="1">
          <a:blip r:embed="rId3">
            <a:alphaModFix/>
          </a:blip>
          <a:srcRect/>
          <a:stretch/>
        </p:blipFill>
        <p:spPr>
          <a:xfrm>
            <a:off x="0" y="-3"/>
            <a:ext cx="965900" cy="943250"/>
          </a:xfrm>
          <a:prstGeom prst="rect">
            <a:avLst/>
          </a:prstGeom>
          <a:noFill/>
          <a:ln>
            <a:noFill/>
          </a:ln>
        </p:spPr>
      </p:pic>
      <p:sp>
        <p:nvSpPr>
          <p:cNvPr id="100" name="Google Shape;100;p5"/>
          <p:cNvSpPr txBox="1"/>
          <p:nvPr/>
        </p:nvSpPr>
        <p:spPr>
          <a:xfrm>
            <a:off x="-5925" y="4707000"/>
            <a:ext cx="8609700" cy="21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2"/>
                </a:solidFill>
                <a:latin typeface="Times New Roman"/>
                <a:ea typeface="Times New Roman"/>
                <a:cs typeface="Times New Roman"/>
                <a:sym typeface="Times New Roman"/>
              </a:rPr>
              <a:t>Department of Computer Science and Engineering                                                                 </a:t>
            </a:r>
            <a:endParaRPr sz="1400" b="0" i="0" u="none"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32153eeaeb8_0_3"/>
          <p:cNvSpPr txBox="1">
            <a:spLocks noGrp="1"/>
          </p:cNvSpPr>
          <p:nvPr>
            <p:ph type="title"/>
          </p:nvPr>
        </p:nvSpPr>
        <p:spPr>
          <a:xfrm>
            <a:off x="311700" y="303075"/>
            <a:ext cx="8520600" cy="454200"/>
          </a:xfrm>
          <a:prstGeom prst="rect">
            <a:avLst/>
          </a:prstGeom>
          <a:noFill/>
          <a:ln>
            <a:noFill/>
          </a:ln>
        </p:spPr>
        <p:txBody>
          <a:bodyPr spcFirstLastPara="1" wrap="square" lIns="91425" tIns="91425" rIns="91425" bIns="91425" anchor="t" anchorCtr="0">
            <a:normAutofit fontScale="90000"/>
          </a:bodyPr>
          <a:lstStyle/>
          <a:p>
            <a:pPr marL="90487" lvl="0" indent="0" algn="ctr" rtl="0">
              <a:lnSpc>
                <a:spcPct val="90000"/>
              </a:lnSpc>
              <a:spcBef>
                <a:spcPts val="0"/>
              </a:spcBef>
              <a:spcAft>
                <a:spcPts val="0"/>
              </a:spcAft>
              <a:buSzPct val="111111"/>
              <a:buNone/>
            </a:pPr>
            <a:r>
              <a:rPr lang="en" b="1" u="sng">
                <a:solidFill>
                  <a:srgbClr val="C00000"/>
                </a:solidFill>
                <a:latin typeface="Times New Roman"/>
                <a:ea typeface="Times New Roman"/>
                <a:cs typeface="Times New Roman"/>
                <a:sym typeface="Times New Roman"/>
              </a:rPr>
              <a:t>PLANNING</a:t>
            </a:r>
            <a:endParaRPr b="1" u="sng">
              <a:solidFill>
                <a:srgbClr val="C00000"/>
              </a:solidFill>
              <a:latin typeface="Times New Roman"/>
              <a:ea typeface="Times New Roman"/>
              <a:cs typeface="Times New Roman"/>
              <a:sym typeface="Times New Roman"/>
            </a:endParaRPr>
          </a:p>
        </p:txBody>
      </p:sp>
      <p:sp>
        <p:nvSpPr>
          <p:cNvPr id="106" name="Google Shape;106;g32153eeaeb8_0_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fontScale="92500" lnSpcReduction="20000"/>
          </a:bodyPr>
          <a:lstStyle/>
          <a:p>
            <a:pPr marL="0" lvl="0" indent="0">
              <a:spcBef>
                <a:spcPts val="1200"/>
              </a:spcBef>
              <a:buClr>
                <a:schemeClr val="dk1"/>
              </a:buClr>
              <a:buSzPts val="1100"/>
              <a:buNone/>
            </a:pPr>
            <a:r>
              <a:rPr lang="en-US" sz="2000" dirty="0">
                <a:solidFill>
                  <a:schemeClr val="dk1"/>
                </a:solidFill>
                <a:latin typeface="Times New Roman"/>
                <a:ea typeface="Times New Roman"/>
                <a:cs typeface="Times New Roman"/>
                <a:sym typeface="Times New Roman"/>
              </a:rPr>
              <a:t>The development of our project follows a systematic approach to ensure that the proposed solution is practical and user-friendly. The project planning consists of the following steps: </a:t>
            </a:r>
          </a:p>
          <a:p>
            <a:pPr marL="0" lvl="0" indent="0">
              <a:spcBef>
                <a:spcPts val="1200"/>
              </a:spcBef>
              <a:buClr>
                <a:schemeClr val="dk1"/>
              </a:buClr>
              <a:buSzPts val="1100"/>
              <a:buNone/>
            </a:pPr>
            <a:r>
              <a:rPr lang="en-US" sz="2000" dirty="0">
                <a:solidFill>
                  <a:schemeClr val="dk1"/>
                </a:solidFill>
                <a:latin typeface="Times New Roman"/>
                <a:ea typeface="Times New Roman"/>
                <a:cs typeface="Times New Roman"/>
                <a:sym typeface="Times New Roman"/>
              </a:rPr>
              <a:t>* Identifying the existing problem in volunteer discovery.   </a:t>
            </a:r>
          </a:p>
          <a:p>
            <a:pPr marL="0" lvl="0" indent="0">
              <a:spcBef>
                <a:spcPts val="1200"/>
              </a:spcBef>
              <a:buClr>
                <a:schemeClr val="dk1"/>
              </a:buClr>
              <a:buSzPts val="1100"/>
              <a:buNone/>
            </a:pPr>
            <a:r>
              <a:rPr lang="en-US" sz="2000" dirty="0">
                <a:solidFill>
                  <a:schemeClr val="dk1"/>
                </a:solidFill>
                <a:latin typeface="Times New Roman"/>
                <a:ea typeface="Times New Roman"/>
                <a:cs typeface="Times New Roman"/>
                <a:sym typeface="Times New Roman"/>
              </a:rPr>
              <a:t>* Conducting research by interacting with NGOs, volunteers, and community organizations.                                                                                                                      * Analyzing the collected information and identifying user requirements.                    * Designing a centralized platform for NGO and volunteer connectivity.                     * Developing and testing the platform.                                                                           * Gathering feedback and planning future improvements.</a:t>
            </a:r>
            <a:endParaRPr sz="2000" dirty="0">
              <a:solidFill>
                <a:schemeClr val="dk1"/>
              </a:solidFill>
              <a:latin typeface="Times New Roman"/>
              <a:ea typeface="Times New Roman"/>
              <a:cs typeface="Times New Roman"/>
              <a:sym typeface="Times New Roman"/>
            </a:endParaRPr>
          </a:p>
          <a:p>
            <a:pPr marL="457200" lvl="0" indent="0" algn="l" rtl="0">
              <a:lnSpc>
                <a:spcPct val="90000"/>
              </a:lnSpc>
              <a:spcBef>
                <a:spcPts val="1200"/>
              </a:spcBef>
              <a:spcAft>
                <a:spcPts val="0"/>
              </a:spcAft>
              <a:buSzPts val="1800"/>
              <a:buNone/>
            </a:pPr>
            <a:endParaRPr sz="20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1200"/>
              </a:spcAft>
              <a:buSzPts val="1800"/>
              <a:buNone/>
            </a:pPr>
            <a:endParaRPr dirty="0"/>
          </a:p>
        </p:txBody>
      </p:sp>
      <p:sp>
        <p:nvSpPr>
          <p:cNvPr id="107" name="Google Shape;107;g32153eeaeb8_0_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7</a:t>
            </a:fld>
            <a:endParaRPr/>
          </a:p>
        </p:txBody>
      </p:sp>
      <p:pic>
        <p:nvPicPr>
          <p:cNvPr id="108" name="Google Shape;108;g32153eeaeb8_0_3"/>
          <p:cNvPicPr preferRelativeResize="0"/>
          <p:nvPr/>
        </p:nvPicPr>
        <p:blipFill rotWithShape="1">
          <a:blip r:embed="rId3">
            <a:alphaModFix/>
          </a:blip>
          <a:srcRect/>
          <a:stretch/>
        </p:blipFill>
        <p:spPr>
          <a:xfrm>
            <a:off x="0" y="-3"/>
            <a:ext cx="965900" cy="943250"/>
          </a:xfrm>
          <a:prstGeom prst="rect">
            <a:avLst/>
          </a:prstGeom>
          <a:noFill/>
          <a:ln>
            <a:noFill/>
          </a:ln>
        </p:spPr>
      </p:pic>
      <p:sp>
        <p:nvSpPr>
          <p:cNvPr id="109" name="Google Shape;109;g32153eeaeb8_0_3"/>
          <p:cNvSpPr txBox="1"/>
          <p:nvPr/>
        </p:nvSpPr>
        <p:spPr>
          <a:xfrm>
            <a:off x="-5925" y="4707000"/>
            <a:ext cx="8609700" cy="21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2"/>
                </a:solidFill>
                <a:latin typeface="Times New Roman"/>
                <a:ea typeface="Times New Roman"/>
                <a:cs typeface="Times New Roman"/>
                <a:sym typeface="Times New Roman"/>
              </a:rPr>
              <a:t>Department of Computer Science and Engineering                                                                 </a:t>
            </a:r>
            <a:endParaRPr sz="1400" b="0" i="0" u="none"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7"/>
          <p:cNvSpPr txBox="1">
            <a:spLocks noGrp="1"/>
          </p:cNvSpPr>
          <p:nvPr>
            <p:ph type="title"/>
          </p:nvPr>
        </p:nvSpPr>
        <p:spPr>
          <a:xfrm>
            <a:off x="311700" y="303075"/>
            <a:ext cx="8520600" cy="454200"/>
          </a:xfrm>
          <a:prstGeom prst="rect">
            <a:avLst/>
          </a:prstGeom>
          <a:noFill/>
          <a:ln>
            <a:noFill/>
          </a:ln>
        </p:spPr>
        <p:txBody>
          <a:bodyPr spcFirstLastPara="1" wrap="square" lIns="91425" tIns="91425" rIns="91425" bIns="91425" anchor="t" anchorCtr="0">
            <a:normAutofit fontScale="90000"/>
          </a:bodyPr>
          <a:lstStyle/>
          <a:p>
            <a:pPr marL="90487" marR="0" lvl="0" indent="0" algn="ctr" rtl="0">
              <a:lnSpc>
                <a:spcPct val="90000"/>
              </a:lnSpc>
              <a:spcBef>
                <a:spcPts val="0"/>
              </a:spcBef>
              <a:spcAft>
                <a:spcPts val="0"/>
              </a:spcAft>
              <a:buSzPct val="111111"/>
              <a:buNone/>
            </a:pPr>
            <a:r>
              <a:rPr lang="en" b="1" u="sng">
                <a:solidFill>
                  <a:srgbClr val="C00000"/>
                </a:solidFill>
                <a:latin typeface="Times New Roman"/>
                <a:ea typeface="Times New Roman"/>
                <a:cs typeface="Times New Roman"/>
                <a:sym typeface="Times New Roman"/>
              </a:rPr>
              <a:t>APPLICATIONS AREA</a:t>
            </a:r>
            <a:endParaRPr b="1" u="sng">
              <a:solidFill>
                <a:srgbClr val="C00000"/>
              </a:solidFill>
              <a:latin typeface="Times New Roman"/>
              <a:ea typeface="Times New Roman"/>
              <a:cs typeface="Times New Roman"/>
              <a:sym typeface="Times New Roman"/>
            </a:endParaRPr>
          </a:p>
        </p:txBody>
      </p:sp>
      <p:sp>
        <p:nvSpPr>
          <p:cNvPr id="115" name="Google Shape;115;p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fontScale="85000" lnSpcReduction="20000"/>
          </a:bodyPr>
          <a:lstStyle/>
          <a:p>
            <a:pPr marL="0" lvl="0" indent="0">
              <a:spcBef>
                <a:spcPts val="1200"/>
              </a:spcBef>
              <a:buClr>
                <a:schemeClr val="dk1"/>
              </a:buClr>
              <a:buSzPts val="1100"/>
              <a:buNone/>
            </a:pPr>
            <a:r>
              <a:rPr lang="en-US" sz="2000" dirty="0">
                <a:solidFill>
                  <a:schemeClr val="dk1"/>
                </a:solidFill>
                <a:latin typeface="Times New Roman"/>
                <a:ea typeface="Times New Roman"/>
                <a:cs typeface="Times New Roman"/>
                <a:sym typeface="Times New Roman"/>
              </a:rPr>
              <a:t>* NGOs and Non-Profit Organizations</a:t>
            </a:r>
          </a:p>
          <a:p>
            <a:pPr marL="0" lvl="0" indent="0">
              <a:spcBef>
                <a:spcPts val="1200"/>
              </a:spcBef>
              <a:buClr>
                <a:schemeClr val="dk1"/>
              </a:buClr>
              <a:buSzPts val="1100"/>
              <a:buNone/>
            </a:pPr>
            <a:r>
              <a:rPr lang="en-US" sz="2000" dirty="0">
                <a:solidFill>
                  <a:schemeClr val="dk1"/>
                </a:solidFill>
                <a:latin typeface="Times New Roman"/>
                <a:ea typeface="Times New Roman"/>
                <a:cs typeface="Times New Roman"/>
                <a:sym typeface="Times New Roman"/>
              </a:rPr>
              <a:t>* Colleges and Universities</a:t>
            </a:r>
          </a:p>
          <a:p>
            <a:pPr marL="0" lvl="0" indent="0">
              <a:spcBef>
                <a:spcPts val="1200"/>
              </a:spcBef>
              <a:buClr>
                <a:schemeClr val="dk1"/>
              </a:buClr>
              <a:buSzPts val="1100"/>
              <a:buNone/>
            </a:pPr>
            <a:r>
              <a:rPr lang="en-US" sz="2000" dirty="0">
                <a:solidFill>
                  <a:schemeClr val="dk1"/>
                </a:solidFill>
                <a:latin typeface="Times New Roman"/>
                <a:ea typeface="Times New Roman"/>
                <a:cs typeface="Times New Roman"/>
                <a:sym typeface="Times New Roman"/>
              </a:rPr>
              <a:t>* Volunteer Clubs</a:t>
            </a:r>
          </a:p>
          <a:p>
            <a:pPr marL="0" lvl="0" indent="0">
              <a:spcBef>
                <a:spcPts val="1200"/>
              </a:spcBef>
              <a:buClr>
                <a:schemeClr val="dk1"/>
              </a:buClr>
              <a:buSzPts val="1100"/>
              <a:buNone/>
            </a:pPr>
            <a:r>
              <a:rPr lang="en-US" sz="2000" dirty="0">
                <a:solidFill>
                  <a:schemeClr val="dk1"/>
                </a:solidFill>
                <a:latin typeface="Times New Roman"/>
                <a:ea typeface="Times New Roman"/>
                <a:cs typeface="Times New Roman"/>
                <a:sym typeface="Times New Roman"/>
              </a:rPr>
              <a:t>* Social Welfare Organizations</a:t>
            </a:r>
          </a:p>
          <a:p>
            <a:pPr marL="0" lvl="0" indent="0">
              <a:spcBef>
                <a:spcPts val="1200"/>
              </a:spcBef>
              <a:buClr>
                <a:schemeClr val="dk1"/>
              </a:buClr>
              <a:buSzPts val="1100"/>
              <a:buNone/>
            </a:pPr>
            <a:r>
              <a:rPr lang="en-US" sz="2000" dirty="0">
                <a:solidFill>
                  <a:schemeClr val="dk1"/>
                </a:solidFill>
                <a:latin typeface="Times New Roman"/>
                <a:ea typeface="Times New Roman"/>
                <a:cs typeface="Times New Roman"/>
                <a:sym typeface="Times New Roman"/>
              </a:rPr>
              <a:t>* Environmental Campaigns</a:t>
            </a:r>
          </a:p>
          <a:p>
            <a:pPr marL="0" lvl="0" indent="0">
              <a:spcBef>
                <a:spcPts val="1200"/>
              </a:spcBef>
              <a:buClr>
                <a:schemeClr val="dk1"/>
              </a:buClr>
              <a:buSzPts val="1100"/>
              <a:buNone/>
            </a:pPr>
            <a:r>
              <a:rPr lang="en-US" sz="2000" dirty="0">
                <a:solidFill>
                  <a:schemeClr val="dk1"/>
                </a:solidFill>
                <a:latin typeface="Times New Roman"/>
                <a:ea typeface="Times New Roman"/>
                <a:cs typeface="Times New Roman"/>
                <a:sym typeface="Times New Roman"/>
              </a:rPr>
              <a:t>* Blood Donation Drives</a:t>
            </a:r>
          </a:p>
          <a:p>
            <a:pPr marL="0" lvl="0" indent="0">
              <a:spcBef>
                <a:spcPts val="1200"/>
              </a:spcBef>
              <a:buClr>
                <a:schemeClr val="dk1"/>
              </a:buClr>
              <a:buSzPts val="1100"/>
              <a:buNone/>
            </a:pPr>
            <a:r>
              <a:rPr lang="en-US" sz="2000" dirty="0">
                <a:solidFill>
                  <a:schemeClr val="dk1"/>
                </a:solidFill>
                <a:latin typeface="Times New Roman"/>
                <a:ea typeface="Times New Roman"/>
                <a:cs typeface="Times New Roman"/>
                <a:sym typeface="Times New Roman"/>
              </a:rPr>
              <a:t>* Community Development Programs</a:t>
            </a:r>
            <a:endParaRPr sz="2000" dirty="0">
              <a:solidFill>
                <a:schemeClr val="dk1"/>
              </a:solidFill>
              <a:latin typeface="Times New Roman"/>
              <a:ea typeface="Times New Roman"/>
              <a:cs typeface="Times New Roman"/>
              <a:sym typeface="Times New Roman"/>
            </a:endParaRPr>
          </a:p>
          <a:p>
            <a:pPr marL="0" lvl="0" indent="0" algn="l" rtl="0">
              <a:lnSpc>
                <a:spcPct val="90000"/>
              </a:lnSpc>
              <a:spcBef>
                <a:spcPts val="1200"/>
              </a:spcBef>
              <a:spcAft>
                <a:spcPts val="0"/>
              </a:spcAft>
              <a:buSzPts val="1800"/>
              <a:buNone/>
            </a:pPr>
            <a:r>
              <a:rPr lang="en" sz="2000" dirty="0">
                <a:solidFill>
                  <a:schemeClr val="dk1"/>
                </a:solidFill>
                <a:latin typeface="Times New Roman"/>
                <a:ea typeface="Times New Roman"/>
                <a:cs typeface="Times New Roman"/>
                <a:sym typeface="Times New Roman"/>
              </a:rPr>
              <a:t>  </a:t>
            </a:r>
            <a:endParaRPr sz="20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1200"/>
              </a:spcAft>
              <a:buSzPts val="1800"/>
              <a:buNone/>
            </a:pPr>
            <a:endParaRPr dirty="0"/>
          </a:p>
        </p:txBody>
      </p:sp>
      <p:sp>
        <p:nvSpPr>
          <p:cNvPr id="116" name="Google Shape;116;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8</a:t>
            </a:fld>
            <a:endParaRPr/>
          </a:p>
        </p:txBody>
      </p:sp>
      <p:pic>
        <p:nvPicPr>
          <p:cNvPr id="117" name="Google Shape;117;p7"/>
          <p:cNvPicPr preferRelativeResize="0"/>
          <p:nvPr/>
        </p:nvPicPr>
        <p:blipFill rotWithShape="1">
          <a:blip r:embed="rId3">
            <a:alphaModFix/>
          </a:blip>
          <a:srcRect/>
          <a:stretch/>
        </p:blipFill>
        <p:spPr>
          <a:xfrm>
            <a:off x="0" y="-3"/>
            <a:ext cx="965900" cy="943250"/>
          </a:xfrm>
          <a:prstGeom prst="rect">
            <a:avLst/>
          </a:prstGeom>
          <a:noFill/>
          <a:ln>
            <a:noFill/>
          </a:ln>
        </p:spPr>
      </p:pic>
      <p:sp>
        <p:nvSpPr>
          <p:cNvPr id="118" name="Google Shape;118;p7"/>
          <p:cNvSpPr txBox="1"/>
          <p:nvPr/>
        </p:nvSpPr>
        <p:spPr>
          <a:xfrm>
            <a:off x="-5925" y="4707000"/>
            <a:ext cx="8609700" cy="21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2"/>
                </a:solidFill>
                <a:latin typeface="Times New Roman"/>
                <a:ea typeface="Times New Roman"/>
                <a:cs typeface="Times New Roman"/>
                <a:sym typeface="Times New Roman"/>
              </a:rPr>
              <a:t>Department of Computer Science and Engineering                                                                 </a:t>
            </a:r>
            <a:endParaRPr sz="1400" b="0" i="0" u="none"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8"/>
          <p:cNvSpPr txBox="1">
            <a:spLocks noGrp="1"/>
          </p:cNvSpPr>
          <p:nvPr>
            <p:ph type="title"/>
          </p:nvPr>
        </p:nvSpPr>
        <p:spPr>
          <a:xfrm>
            <a:off x="311700" y="303075"/>
            <a:ext cx="8520600" cy="454200"/>
          </a:xfrm>
          <a:prstGeom prst="rect">
            <a:avLst/>
          </a:prstGeom>
          <a:noFill/>
          <a:ln>
            <a:noFill/>
          </a:ln>
        </p:spPr>
        <p:txBody>
          <a:bodyPr spcFirstLastPara="1" wrap="square" lIns="91425" tIns="91425" rIns="91425" bIns="91425" anchor="t" anchorCtr="0">
            <a:normAutofit fontScale="90000"/>
          </a:bodyPr>
          <a:lstStyle/>
          <a:p>
            <a:pPr marL="90487" marR="0" lvl="0" indent="0" algn="ctr" rtl="0">
              <a:lnSpc>
                <a:spcPct val="90000"/>
              </a:lnSpc>
              <a:spcBef>
                <a:spcPts val="0"/>
              </a:spcBef>
              <a:spcAft>
                <a:spcPts val="0"/>
              </a:spcAft>
              <a:buSzPct val="111111"/>
              <a:buNone/>
            </a:pPr>
            <a:r>
              <a:rPr lang="en" b="1" u="sng">
                <a:solidFill>
                  <a:srgbClr val="C00000"/>
                </a:solidFill>
                <a:latin typeface="Times New Roman"/>
                <a:ea typeface="Times New Roman"/>
                <a:cs typeface="Times New Roman"/>
                <a:sym typeface="Times New Roman"/>
              </a:rPr>
              <a:t>REQUIREMENT </a:t>
            </a:r>
            <a:endParaRPr b="1" u="sng">
              <a:solidFill>
                <a:srgbClr val="C00000"/>
              </a:solidFill>
              <a:latin typeface="Times New Roman"/>
              <a:ea typeface="Times New Roman"/>
              <a:cs typeface="Times New Roman"/>
              <a:sym typeface="Times New Roman"/>
            </a:endParaRPr>
          </a:p>
        </p:txBody>
      </p:sp>
      <p:sp>
        <p:nvSpPr>
          <p:cNvPr id="124" name="Google Shape;124;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fontScale="47500" lnSpcReduction="20000"/>
          </a:bodyPr>
          <a:lstStyle/>
          <a:p>
            <a:pPr marL="0" lvl="0" indent="0" algn="l" rtl="0">
              <a:spcBef>
                <a:spcPts val="1200"/>
              </a:spcBef>
              <a:spcAft>
                <a:spcPts val="0"/>
              </a:spcAft>
              <a:buClr>
                <a:schemeClr val="dk1"/>
              </a:buClr>
              <a:buSzPts val="1100"/>
              <a:buFont typeface="Arial"/>
              <a:buNone/>
            </a:pPr>
            <a:endParaRPr sz="1100" dirty="0">
              <a:solidFill>
                <a:schemeClr val="dk1"/>
              </a:solidFill>
            </a:endParaRPr>
          </a:p>
          <a:p>
            <a:pPr marL="0" lvl="0" indent="0">
              <a:lnSpc>
                <a:spcPct val="90000"/>
              </a:lnSpc>
              <a:spcBef>
                <a:spcPts val="1200"/>
              </a:spcBef>
              <a:buNone/>
            </a:pPr>
            <a:r>
              <a:rPr lang="en" sz="2900" dirty="0">
                <a:solidFill>
                  <a:schemeClr val="dk1"/>
                </a:solidFill>
                <a:latin typeface="Times New Roman"/>
                <a:ea typeface="Times New Roman"/>
                <a:cs typeface="Times New Roman"/>
                <a:sym typeface="Times New Roman"/>
              </a:rPr>
              <a:t> </a:t>
            </a:r>
            <a:r>
              <a:rPr lang="en-IN" sz="2900" dirty="0">
                <a:solidFill>
                  <a:schemeClr val="dk1"/>
                </a:solidFill>
                <a:latin typeface="Times New Roman"/>
                <a:ea typeface="Times New Roman"/>
                <a:cs typeface="Times New Roman"/>
                <a:sym typeface="Times New Roman"/>
              </a:rPr>
              <a:t>Software Requirements</a:t>
            </a:r>
          </a:p>
          <a:p>
            <a:pPr marL="0" lvl="0" indent="0">
              <a:lnSpc>
                <a:spcPct val="90000"/>
              </a:lnSpc>
              <a:spcBef>
                <a:spcPts val="1200"/>
              </a:spcBef>
              <a:buNone/>
            </a:pPr>
            <a:r>
              <a:rPr lang="en-IN" sz="2000" dirty="0">
                <a:solidFill>
                  <a:schemeClr val="dk1"/>
                </a:solidFill>
                <a:latin typeface="Times New Roman"/>
                <a:ea typeface="Times New Roman"/>
                <a:cs typeface="Times New Roman"/>
                <a:sym typeface="Times New Roman"/>
              </a:rPr>
              <a:t>* HTML</a:t>
            </a:r>
          </a:p>
          <a:p>
            <a:pPr marL="0" lvl="0" indent="0">
              <a:lnSpc>
                <a:spcPct val="90000"/>
              </a:lnSpc>
              <a:spcBef>
                <a:spcPts val="1200"/>
              </a:spcBef>
              <a:buNone/>
            </a:pPr>
            <a:r>
              <a:rPr lang="en-IN" sz="2000" dirty="0">
                <a:solidFill>
                  <a:schemeClr val="dk1"/>
                </a:solidFill>
                <a:latin typeface="Times New Roman"/>
                <a:ea typeface="Times New Roman"/>
                <a:cs typeface="Times New Roman"/>
                <a:sym typeface="Times New Roman"/>
              </a:rPr>
              <a:t>* CSS</a:t>
            </a:r>
          </a:p>
          <a:p>
            <a:pPr marL="0" lvl="0" indent="0">
              <a:lnSpc>
                <a:spcPct val="90000"/>
              </a:lnSpc>
              <a:spcBef>
                <a:spcPts val="1200"/>
              </a:spcBef>
              <a:buNone/>
            </a:pPr>
            <a:r>
              <a:rPr lang="en-IN" sz="2000" dirty="0">
                <a:solidFill>
                  <a:schemeClr val="dk1"/>
                </a:solidFill>
                <a:latin typeface="Times New Roman"/>
                <a:ea typeface="Times New Roman"/>
                <a:cs typeface="Times New Roman"/>
                <a:sym typeface="Times New Roman"/>
              </a:rPr>
              <a:t>* JavaScript</a:t>
            </a:r>
          </a:p>
          <a:p>
            <a:pPr marL="0" lvl="0" indent="0">
              <a:lnSpc>
                <a:spcPct val="90000"/>
              </a:lnSpc>
              <a:spcBef>
                <a:spcPts val="1200"/>
              </a:spcBef>
              <a:buNone/>
            </a:pPr>
            <a:r>
              <a:rPr lang="en-IN" sz="2000" dirty="0">
                <a:solidFill>
                  <a:schemeClr val="dk1"/>
                </a:solidFill>
                <a:latin typeface="Times New Roman"/>
                <a:ea typeface="Times New Roman"/>
                <a:cs typeface="Times New Roman"/>
                <a:sym typeface="Times New Roman"/>
              </a:rPr>
              <a:t>* Visual Studio Code</a:t>
            </a:r>
          </a:p>
          <a:p>
            <a:pPr marL="0" lvl="0" indent="0">
              <a:lnSpc>
                <a:spcPct val="90000"/>
              </a:lnSpc>
              <a:spcBef>
                <a:spcPts val="1200"/>
              </a:spcBef>
              <a:buNone/>
            </a:pPr>
            <a:r>
              <a:rPr lang="en-IN" sz="2000" dirty="0">
                <a:solidFill>
                  <a:schemeClr val="dk1"/>
                </a:solidFill>
                <a:latin typeface="Times New Roman"/>
                <a:ea typeface="Times New Roman"/>
                <a:cs typeface="Times New Roman"/>
                <a:sym typeface="Times New Roman"/>
              </a:rPr>
              <a:t>* GitHub </a:t>
            </a:r>
          </a:p>
          <a:p>
            <a:pPr marL="0" lvl="0" indent="0">
              <a:lnSpc>
                <a:spcPct val="90000"/>
              </a:lnSpc>
              <a:spcBef>
                <a:spcPts val="1200"/>
              </a:spcBef>
              <a:buNone/>
            </a:pPr>
            <a:r>
              <a:rPr lang="en-IN" sz="2900" dirty="0">
                <a:solidFill>
                  <a:schemeClr val="dk1"/>
                </a:solidFill>
                <a:latin typeface="Times New Roman"/>
                <a:ea typeface="Times New Roman"/>
                <a:cs typeface="Times New Roman"/>
                <a:sym typeface="Times New Roman"/>
              </a:rPr>
              <a:t>Hardware Requirements                                                                                                                                                                                                         </a:t>
            </a:r>
          </a:p>
          <a:p>
            <a:pPr marL="0" lvl="0" indent="0">
              <a:lnSpc>
                <a:spcPct val="90000"/>
              </a:lnSpc>
              <a:spcBef>
                <a:spcPts val="1200"/>
              </a:spcBef>
              <a:buNone/>
            </a:pPr>
            <a:r>
              <a:rPr lang="en-IN" sz="2000" dirty="0">
                <a:solidFill>
                  <a:schemeClr val="dk1"/>
                </a:solidFill>
                <a:latin typeface="Times New Roman"/>
                <a:ea typeface="Times New Roman"/>
                <a:cs typeface="Times New Roman"/>
                <a:sym typeface="Times New Roman"/>
              </a:rPr>
              <a:t>* Laptop/Desktop</a:t>
            </a:r>
          </a:p>
          <a:p>
            <a:pPr marL="0" lvl="0" indent="0">
              <a:lnSpc>
                <a:spcPct val="90000"/>
              </a:lnSpc>
              <a:spcBef>
                <a:spcPts val="1200"/>
              </a:spcBef>
              <a:buNone/>
            </a:pPr>
            <a:r>
              <a:rPr lang="en-IN" sz="2000" dirty="0">
                <a:solidFill>
                  <a:schemeClr val="dk1"/>
                </a:solidFill>
                <a:latin typeface="Times New Roman"/>
                <a:ea typeface="Times New Roman"/>
                <a:cs typeface="Times New Roman"/>
                <a:sym typeface="Times New Roman"/>
              </a:rPr>
              <a:t>* Minimum 8 GB RAM</a:t>
            </a:r>
          </a:p>
          <a:p>
            <a:pPr marL="0" lvl="0" indent="0">
              <a:lnSpc>
                <a:spcPct val="90000"/>
              </a:lnSpc>
              <a:spcBef>
                <a:spcPts val="1200"/>
              </a:spcBef>
              <a:buNone/>
            </a:pPr>
            <a:r>
              <a:rPr lang="en-IN" sz="2000" dirty="0">
                <a:solidFill>
                  <a:schemeClr val="dk1"/>
                </a:solidFill>
                <a:latin typeface="Times New Roman"/>
                <a:ea typeface="Times New Roman"/>
                <a:cs typeface="Times New Roman"/>
                <a:sym typeface="Times New Roman"/>
              </a:rPr>
              <a:t>* Internet Connection</a:t>
            </a:r>
          </a:p>
          <a:p>
            <a:pPr marL="0" lvl="0" indent="0">
              <a:lnSpc>
                <a:spcPct val="90000"/>
              </a:lnSpc>
              <a:spcBef>
                <a:spcPts val="1200"/>
              </a:spcBef>
              <a:buNone/>
            </a:pPr>
            <a:r>
              <a:rPr lang="en-IN" sz="2000" dirty="0">
                <a:solidFill>
                  <a:schemeClr val="dk1"/>
                </a:solidFill>
                <a:latin typeface="Times New Roman"/>
                <a:ea typeface="Times New Roman"/>
                <a:cs typeface="Times New Roman"/>
                <a:sym typeface="Times New Roman"/>
              </a:rPr>
              <a:t>* Modern Web Browser</a:t>
            </a:r>
            <a:endParaRPr sz="20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1200"/>
              </a:spcAft>
              <a:buSzPts val="1800"/>
              <a:buNone/>
            </a:pPr>
            <a:endParaRPr dirty="0"/>
          </a:p>
        </p:txBody>
      </p:sp>
      <p:sp>
        <p:nvSpPr>
          <p:cNvPr id="125" name="Google Shape;125;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9</a:t>
            </a:fld>
            <a:endParaRPr/>
          </a:p>
        </p:txBody>
      </p:sp>
      <p:pic>
        <p:nvPicPr>
          <p:cNvPr id="126" name="Google Shape;126;p8"/>
          <p:cNvPicPr preferRelativeResize="0"/>
          <p:nvPr/>
        </p:nvPicPr>
        <p:blipFill rotWithShape="1">
          <a:blip r:embed="rId3">
            <a:alphaModFix/>
          </a:blip>
          <a:srcRect/>
          <a:stretch/>
        </p:blipFill>
        <p:spPr>
          <a:xfrm>
            <a:off x="0" y="-3"/>
            <a:ext cx="965900" cy="943250"/>
          </a:xfrm>
          <a:prstGeom prst="rect">
            <a:avLst/>
          </a:prstGeom>
          <a:noFill/>
          <a:ln>
            <a:noFill/>
          </a:ln>
        </p:spPr>
      </p:pic>
      <p:sp>
        <p:nvSpPr>
          <p:cNvPr id="127" name="Google Shape;127;p8"/>
          <p:cNvSpPr txBox="1"/>
          <p:nvPr/>
        </p:nvSpPr>
        <p:spPr>
          <a:xfrm>
            <a:off x="-5925" y="4707000"/>
            <a:ext cx="8609700" cy="21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2"/>
                </a:solidFill>
                <a:latin typeface="Times New Roman"/>
                <a:ea typeface="Times New Roman"/>
                <a:cs typeface="Times New Roman"/>
                <a:sym typeface="Times New Roman"/>
              </a:rPr>
              <a:t>Department of Computer Science and Engineering                                                                 </a:t>
            </a:r>
            <a:endParaRPr sz="1400" b="0" i="0" u="none"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9"/>
          <p:cNvSpPr txBox="1">
            <a:spLocks noGrp="1"/>
          </p:cNvSpPr>
          <p:nvPr>
            <p:ph type="title"/>
          </p:nvPr>
        </p:nvSpPr>
        <p:spPr>
          <a:xfrm>
            <a:off x="311700" y="303075"/>
            <a:ext cx="8520600" cy="454200"/>
          </a:xfrm>
          <a:prstGeom prst="rect">
            <a:avLst/>
          </a:prstGeom>
          <a:noFill/>
          <a:ln>
            <a:noFill/>
          </a:ln>
        </p:spPr>
        <p:txBody>
          <a:bodyPr spcFirstLastPara="1" wrap="square" lIns="91425" tIns="91425" rIns="91425" bIns="91425" anchor="t" anchorCtr="0">
            <a:normAutofit fontScale="90000"/>
          </a:bodyPr>
          <a:lstStyle/>
          <a:p>
            <a:pPr marL="90487" marR="0" lvl="0" indent="0" algn="ctr" rtl="0">
              <a:lnSpc>
                <a:spcPct val="90000"/>
              </a:lnSpc>
              <a:spcBef>
                <a:spcPts val="0"/>
              </a:spcBef>
              <a:spcAft>
                <a:spcPts val="0"/>
              </a:spcAft>
              <a:buSzPct val="111111"/>
              <a:buNone/>
            </a:pPr>
            <a:r>
              <a:rPr lang="en" b="1" u="sng">
                <a:solidFill>
                  <a:srgbClr val="C00000"/>
                </a:solidFill>
                <a:latin typeface="Times New Roman"/>
                <a:ea typeface="Times New Roman"/>
                <a:cs typeface="Times New Roman"/>
                <a:sym typeface="Times New Roman"/>
              </a:rPr>
              <a:t>REFERENCES </a:t>
            </a:r>
            <a:endParaRPr b="1" u="sng">
              <a:solidFill>
                <a:srgbClr val="C00000"/>
              </a:solidFill>
              <a:latin typeface="Times New Roman"/>
              <a:ea typeface="Times New Roman"/>
              <a:cs typeface="Times New Roman"/>
              <a:sym typeface="Times New Roman"/>
            </a:endParaRPr>
          </a:p>
        </p:txBody>
      </p:sp>
      <p:sp>
        <p:nvSpPr>
          <p:cNvPr id="133" name="Google Shape;133;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fontScale="70000" lnSpcReduction="20000"/>
          </a:bodyPr>
          <a:lstStyle/>
          <a:p>
            <a:pPr marL="0" lvl="0" indent="0">
              <a:spcBef>
                <a:spcPts val="1200"/>
              </a:spcBef>
              <a:buClr>
                <a:schemeClr val="dk1"/>
              </a:buClr>
              <a:buSzPts val="1100"/>
              <a:buNone/>
            </a:pPr>
            <a:r>
              <a:rPr lang="en-IN" sz="2600" dirty="0">
                <a:solidFill>
                  <a:schemeClr val="dk1"/>
                </a:solidFill>
                <a:latin typeface="Times New Roman"/>
                <a:ea typeface="Times New Roman"/>
                <a:cs typeface="Times New Roman"/>
                <a:sym typeface="Times New Roman"/>
              </a:rPr>
              <a:t>Existing Platforms Studied</a:t>
            </a:r>
          </a:p>
          <a:p>
            <a:pPr marL="0" lvl="0" indent="0">
              <a:spcBef>
                <a:spcPts val="1200"/>
              </a:spcBef>
              <a:buClr>
                <a:schemeClr val="dk1"/>
              </a:buClr>
              <a:buSzPts val="1100"/>
              <a:buNone/>
            </a:pPr>
            <a:r>
              <a:rPr lang="en-IN" sz="2000" dirty="0">
                <a:solidFill>
                  <a:schemeClr val="dk1"/>
                </a:solidFill>
                <a:latin typeface="Times New Roman"/>
                <a:ea typeface="Times New Roman"/>
                <a:cs typeface="Times New Roman"/>
                <a:sym typeface="Times New Roman"/>
              </a:rPr>
              <a:t>1.Volunteer Match Website: </a:t>
            </a:r>
            <a:r>
              <a:rPr lang="en-IN" sz="2000" dirty="0">
                <a:solidFill>
                  <a:schemeClr val="dk1"/>
                </a:solidFill>
                <a:latin typeface="Times New Roman"/>
                <a:ea typeface="Times New Roman"/>
                <a:cs typeface="Times New Roman"/>
                <a:sym typeface="Times New Roman"/>
                <a:hlinkClick r:id="rId3"/>
              </a:rPr>
              <a:t>https://www.volunteermatch.org</a:t>
            </a:r>
            <a:endParaRPr lang="en-IN" sz="2000" dirty="0">
              <a:solidFill>
                <a:schemeClr val="dk1"/>
              </a:solidFill>
              <a:latin typeface="Times New Roman"/>
              <a:ea typeface="Times New Roman"/>
              <a:cs typeface="Times New Roman"/>
              <a:sym typeface="Times New Roman"/>
            </a:endParaRPr>
          </a:p>
          <a:p>
            <a:pPr marL="0" lvl="0" indent="0">
              <a:spcBef>
                <a:spcPts val="1200"/>
              </a:spcBef>
              <a:buClr>
                <a:schemeClr val="dk1"/>
              </a:buClr>
              <a:buSzPts val="1100"/>
              <a:buNone/>
            </a:pPr>
            <a:r>
              <a:rPr lang="en-IN" sz="2000" dirty="0">
                <a:solidFill>
                  <a:schemeClr val="dk1"/>
                </a:solidFill>
                <a:latin typeface="Times New Roman"/>
                <a:ea typeface="Times New Roman"/>
                <a:cs typeface="Times New Roman"/>
                <a:sym typeface="Times New Roman"/>
              </a:rPr>
              <a:t>⁠�Drawbacks=Primarily focuses on international organizations. Limited support for discovering local Indian NGOs</a:t>
            </a:r>
          </a:p>
          <a:p>
            <a:pPr marL="0" lvl="0" indent="0">
              <a:spcBef>
                <a:spcPts val="1200"/>
              </a:spcBef>
              <a:buClr>
                <a:schemeClr val="dk1"/>
              </a:buClr>
              <a:buSzPts val="1100"/>
              <a:buNone/>
            </a:pPr>
            <a:r>
              <a:rPr lang="en-IN" sz="2000" dirty="0">
                <a:solidFill>
                  <a:schemeClr val="dk1"/>
                </a:solidFill>
                <a:latin typeface="Times New Roman"/>
                <a:ea typeface="Times New Roman"/>
                <a:cs typeface="Times New Roman"/>
                <a:sym typeface="Times New Roman"/>
              </a:rPr>
              <a:t>2. Give Pulse Website: https://www.givepulse.com</a:t>
            </a:r>
          </a:p>
          <a:p>
            <a:pPr marL="0" lvl="0" indent="0">
              <a:spcBef>
                <a:spcPts val="1200"/>
              </a:spcBef>
              <a:buClr>
                <a:schemeClr val="dk1"/>
              </a:buClr>
              <a:buSzPts val="1100"/>
              <a:buNone/>
            </a:pPr>
            <a:r>
              <a:rPr lang="en-IN" sz="2000" dirty="0">
                <a:solidFill>
                  <a:schemeClr val="dk1"/>
                </a:solidFill>
                <a:latin typeface="Times New Roman"/>
                <a:ea typeface="Times New Roman"/>
                <a:cs typeface="Times New Roman"/>
                <a:sym typeface="Times New Roman"/>
              </a:rPr>
              <a:t>�Drawbacks=Mainly designed for universities and institutions. Less suitable for first-time independent volunteers</a:t>
            </a:r>
          </a:p>
          <a:p>
            <a:pPr marL="0" lvl="0" indent="0">
              <a:spcBef>
                <a:spcPts val="1200"/>
              </a:spcBef>
              <a:buClr>
                <a:schemeClr val="dk1"/>
              </a:buClr>
              <a:buSzPts val="1100"/>
              <a:buNone/>
            </a:pPr>
            <a:r>
              <a:rPr lang="en-IN" sz="2000" dirty="0">
                <a:solidFill>
                  <a:schemeClr val="dk1"/>
                </a:solidFill>
                <a:latin typeface="Times New Roman"/>
                <a:ea typeface="Times New Roman"/>
                <a:cs typeface="Times New Roman"/>
                <a:sym typeface="Times New Roman"/>
              </a:rPr>
              <a:t>3. Idealist Website: </a:t>
            </a:r>
            <a:r>
              <a:rPr lang="en-IN" sz="2000" dirty="0">
                <a:solidFill>
                  <a:schemeClr val="dk1"/>
                </a:solidFill>
                <a:latin typeface="Times New Roman"/>
                <a:ea typeface="Times New Roman"/>
                <a:cs typeface="Times New Roman"/>
                <a:sym typeface="Times New Roman"/>
                <a:hlinkClick r:id="rId4"/>
              </a:rPr>
              <a:t>https://www.idealist.org</a:t>
            </a:r>
            <a:endParaRPr lang="en-IN" sz="2000" dirty="0">
              <a:solidFill>
                <a:schemeClr val="dk1"/>
              </a:solidFill>
              <a:latin typeface="Times New Roman"/>
              <a:ea typeface="Times New Roman"/>
              <a:cs typeface="Times New Roman"/>
              <a:sym typeface="Times New Roman"/>
            </a:endParaRPr>
          </a:p>
          <a:p>
            <a:pPr marL="0" lvl="0" indent="0">
              <a:spcBef>
                <a:spcPts val="1200"/>
              </a:spcBef>
              <a:buClr>
                <a:schemeClr val="dk1"/>
              </a:buClr>
              <a:buSzPts val="1100"/>
              <a:buNone/>
            </a:pPr>
            <a:r>
              <a:rPr lang="en-IN" sz="2000" dirty="0">
                <a:solidFill>
                  <a:schemeClr val="dk1"/>
                </a:solidFill>
                <a:latin typeface="Times New Roman"/>
                <a:ea typeface="Times New Roman"/>
                <a:cs typeface="Times New Roman"/>
                <a:sym typeface="Times New Roman"/>
              </a:rPr>
              <a:t>⁠�Drawbacks=Combines jobs, internships, and volunteering, making it less focused .Limited location-specific filtering for local community activities.</a:t>
            </a:r>
            <a:endParaRPr sz="2000" dirty="0">
              <a:solidFill>
                <a:schemeClr val="dk1"/>
              </a:solidFill>
              <a:latin typeface="Times New Roman"/>
              <a:ea typeface="Times New Roman"/>
              <a:cs typeface="Times New Roman"/>
              <a:sym typeface="Times New Roman"/>
            </a:endParaRPr>
          </a:p>
          <a:p>
            <a:pPr marL="0" lvl="0" indent="0" algn="l" rtl="0">
              <a:lnSpc>
                <a:spcPct val="90000"/>
              </a:lnSpc>
              <a:spcBef>
                <a:spcPts val="1200"/>
              </a:spcBef>
              <a:spcAft>
                <a:spcPts val="0"/>
              </a:spcAft>
              <a:buSzPts val="1800"/>
              <a:buNone/>
            </a:pPr>
            <a:r>
              <a:rPr lang="en" sz="2000" dirty="0">
                <a:solidFill>
                  <a:schemeClr val="dk1"/>
                </a:solidFill>
                <a:latin typeface="Times New Roman"/>
                <a:ea typeface="Times New Roman"/>
                <a:cs typeface="Times New Roman"/>
                <a:sym typeface="Times New Roman"/>
              </a:rPr>
              <a:t>  </a:t>
            </a:r>
            <a:endParaRPr sz="20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1200"/>
              </a:spcAft>
              <a:buSzPts val="1800"/>
              <a:buNone/>
            </a:pPr>
            <a:endParaRPr dirty="0"/>
          </a:p>
        </p:txBody>
      </p:sp>
      <p:sp>
        <p:nvSpPr>
          <p:cNvPr id="134" name="Google Shape;134;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10</a:t>
            </a:fld>
            <a:endParaRPr/>
          </a:p>
        </p:txBody>
      </p:sp>
      <p:pic>
        <p:nvPicPr>
          <p:cNvPr id="135" name="Google Shape;135;p9"/>
          <p:cNvPicPr preferRelativeResize="0"/>
          <p:nvPr/>
        </p:nvPicPr>
        <p:blipFill rotWithShape="1">
          <a:blip r:embed="rId5">
            <a:alphaModFix/>
          </a:blip>
          <a:srcRect/>
          <a:stretch/>
        </p:blipFill>
        <p:spPr>
          <a:xfrm>
            <a:off x="0" y="-3"/>
            <a:ext cx="965900" cy="943250"/>
          </a:xfrm>
          <a:prstGeom prst="rect">
            <a:avLst/>
          </a:prstGeom>
          <a:noFill/>
          <a:ln>
            <a:noFill/>
          </a:ln>
        </p:spPr>
      </p:pic>
      <p:sp>
        <p:nvSpPr>
          <p:cNvPr id="136" name="Google Shape;136;p9"/>
          <p:cNvSpPr txBox="1"/>
          <p:nvPr/>
        </p:nvSpPr>
        <p:spPr>
          <a:xfrm>
            <a:off x="-5925" y="4707000"/>
            <a:ext cx="8609700" cy="21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2"/>
                </a:solidFill>
                <a:latin typeface="Times New Roman"/>
                <a:ea typeface="Times New Roman"/>
                <a:cs typeface="Times New Roman"/>
                <a:sym typeface="Times New Roman"/>
              </a:rPr>
              <a:t>Department of Computer Science and Engineering                                                                 </a:t>
            </a:r>
            <a:endParaRPr sz="1400" b="0" i="0" u="none"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0"/>
          <p:cNvSpPr txBox="1">
            <a:spLocks noGrp="1"/>
          </p:cNvSpPr>
          <p:nvPr>
            <p:ph type="title"/>
          </p:nvPr>
        </p:nvSpPr>
        <p:spPr>
          <a:xfrm>
            <a:off x="311700" y="1689275"/>
            <a:ext cx="8520600" cy="454200"/>
          </a:xfrm>
          <a:prstGeom prst="rect">
            <a:avLst/>
          </a:prstGeom>
          <a:noFill/>
          <a:ln>
            <a:noFill/>
          </a:ln>
        </p:spPr>
        <p:txBody>
          <a:bodyPr spcFirstLastPara="1" wrap="square" lIns="91425" tIns="91425" rIns="91425" bIns="91425" anchor="t" anchorCtr="0">
            <a:normAutofit fontScale="90000"/>
          </a:bodyPr>
          <a:lstStyle/>
          <a:p>
            <a:pPr marL="90487" marR="0" lvl="0" indent="0" algn="ctr" rtl="0">
              <a:lnSpc>
                <a:spcPct val="90000"/>
              </a:lnSpc>
              <a:spcBef>
                <a:spcPts val="0"/>
              </a:spcBef>
              <a:spcAft>
                <a:spcPts val="0"/>
              </a:spcAft>
              <a:buSzPct val="111111"/>
              <a:buNone/>
            </a:pPr>
            <a:r>
              <a:rPr lang="en" b="1">
                <a:solidFill>
                  <a:srgbClr val="C00000"/>
                </a:solidFill>
                <a:latin typeface="Times New Roman"/>
                <a:ea typeface="Times New Roman"/>
                <a:cs typeface="Times New Roman"/>
                <a:sym typeface="Times New Roman"/>
              </a:rPr>
              <a:t>Thank You!</a:t>
            </a:r>
            <a:endParaRPr b="1">
              <a:solidFill>
                <a:srgbClr val="C00000"/>
              </a:solidFill>
              <a:latin typeface="Times New Roman"/>
              <a:ea typeface="Times New Roman"/>
              <a:cs typeface="Times New Roman"/>
              <a:sym typeface="Times New Roman"/>
            </a:endParaRPr>
          </a:p>
        </p:txBody>
      </p:sp>
      <p:sp>
        <p:nvSpPr>
          <p:cNvPr id="142" name="Google Shape;14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11</a:t>
            </a:fld>
            <a:endParaRPr/>
          </a:p>
        </p:txBody>
      </p:sp>
      <p:pic>
        <p:nvPicPr>
          <p:cNvPr id="143" name="Google Shape;143;p10"/>
          <p:cNvPicPr preferRelativeResize="0"/>
          <p:nvPr/>
        </p:nvPicPr>
        <p:blipFill rotWithShape="1">
          <a:blip r:embed="rId3">
            <a:alphaModFix/>
          </a:blip>
          <a:srcRect/>
          <a:stretch/>
        </p:blipFill>
        <p:spPr>
          <a:xfrm>
            <a:off x="0" y="-3"/>
            <a:ext cx="965900" cy="943250"/>
          </a:xfrm>
          <a:prstGeom prst="rect">
            <a:avLst/>
          </a:prstGeom>
          <a:noFill/>
          <a:ln>
            <a:noFill/>
          </a:ln>
        </p:spPr>
      </p:pic>
      <p:sp>
        <p:nvSpPr>
          <p:cNvPr id="144" name="Google Shape;144;p10"/>
          <p:cNvSpPr txBox="1"/>
          <p:nvPr/>
        </p:nvSpPr>
        <p:spPr>
          <a:xfrm>
            <a:off x="-5925" y="4707000"/>
            <a:ext cx="8609700" cy="217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2"/>
                </a:solidFill>
                <a:latin typeface="Times New Roman"/>
                <a:ea typeface="Times New Roman"/>
                <a:cs typeface="Times New Roman"/>
                <a:sym typeface="Times New Roman"/>
              </a:rPr>
              <a:t>Department of Computer Science and Engineering                                                                 </a:t>
            </a:r>
            <a:endParaRPr sz="1400" b="0" i="0" u="none"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717</Words>
  <Application>Microsoft Office PowerPoint</Application>
  <PresentationFormat>On-screen Show (16:9)</PresentationFormat>
  <Paragraphs>123</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Algerian</vt:lpstr>
      <vt:lpstr>Arial</vt:lpstr>
      <vt:lpstr>Calibri</vt:lpstr>
      <vt:lpstr>Noto Sans Symbols</vt:lpstr>
      <vt:lpstr>Times New Roman</vt:lpstr>
      <vt:lpstr>Simple Light</vt:lpstr>
      <vt:lpstr>PowerPoint Presentation</vt:lpstr>
      <vt:lpstr>CONTENTS</vt:lpstr>
      <vt:lpstr>INTRODUCTION</vt:lpstr>
      <vt:lpstr>SURVEY / INVESTIGATION</vt:lpstr>
      <vt:lpstr>PROBLEM STATEMENT</vt:lpstr>
      <vt:lpstr>OBJECTIVE</vt:lpstr>
      <vt:lpstr>PLANNING</vt:lpstr>
      <vt:lpstr>APPLICATIONS AREA</vt:lpstr>
      <vt:lpstr>REQUIREMENT </vt:lpstr>
      <vt:lpstr>REFERENCES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manasvi dupare</cp:lastModifiedBy>
  <cp:revision>2</cp:revision>
  <dcterms:modified xsi:type="dcterms:W3CDTF">2026-07-21T18:24:27Z</dcterms:modified>
</cp:coreProperties>
</file>